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3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22" name="PlaceHolder 5"/>
          <p:cNvSpPr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23" name="PlaceHolder 6"/>
          <p:cNvSpPr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9C6A755-AF06-494E-BBB1-7614D7E2A391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Easy to have students make their own: draw one larger circle in the middle, then lines to connecting ideas</a:t>
            </a:r>
            <a:endParaRPr b="0" lang="en-US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can do this as we go through the presentation; main idea = graphic organizers, related concepts are the various types of graphic organizers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Tip to focus information, try to  develop your topic sentences for each paragraph as a part of the outline instead of just a bulleted word/topic. 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*Exact content depends on the journal you’ve selected, i.e. OS vs discipline-specific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add the sequence information to their concept map graphic organizer</a:t>
            </a:r>
            <a:endParaRPr b="0" lang="en-US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One example: pictures for lower levels, area to write for higher levels</a:t>
            </a:r>
            <a:endParaRPr b="0" lang="en-US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add story map information to graphic organizer</a:t>
            </a:r>
            <a:endParaRPr b="0" lang="en-US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Discuss various parts of the story: character, setting, plot, conflict, resolution, falling action/end</a:t>
            </a:r>
            <a:endParaRPr b="0" lang="en-US" sz="11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Pictures or words can be used by students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3360" cy="342648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latin typeface="Arial"/>
                <a:ea typeface="Arial"/>
              </a:rPr>
              <a:t>Participants add this information to their concept map graphic organizer</a:t>
            </a:r>
            <a:endParaRPr b="0" lang="en-US" sz="11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43768F6-502E-4FB9-ACCD-7FFD98181D41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3887C20-4425-45D0-9243-679A05B82743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097AEA2-9DFB-49CA-84D2-E648D5B72490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48DE896-4A61-4F1C-B047-13C0FD42AC52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7512FCE-CA5C-4FF1-966A-433C54CB8C81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BB13558-CE5A-4854-9704-B71251470758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7BE098D-908B-42B1-8344-C176E21DEE38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DF2EDF0-2FB7-451D-A5CC-24950BF45D96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3656DCF-4DB5-4821-8A2F-4FAD8B00B9EC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9053521-15C4-4D7F-B8A9-D26B1D35F152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96C709A-0357-49D1-BA01-792D80C317DF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26529F9-6BA7-42BD-8847-14FDC3561B24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E0A07A3-9F83-4BCE-B62A-5ECFA41092DE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1ABEBB7-59D1-4DF8-9762-98E61AF09E70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5B2F7C-B80B-4A8E-8D2B-9C7B33A0EA09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69EF1ED-5B39-4C33-B29E-FD07D99FCBD9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417AF5-85DF-4FA8-8907-82D4996524FF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89C3CEB-F4E5-4DD0-BB24-961ABAE423AE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2A84A3-B328-44F6-8CE7-74C41F54F107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3C1E90B-E291-4FE0-923B-EA60690CDE7B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73DAC05-88B5-41EB-A95A-B71686A325FD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A2716F-F793-40FE-A63A-14281ACEEEF8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B09EC62-6922-4062-A1B9-2316457FD71C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D23563C-13B2-4B95-BE34-5EAF678F5D50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1FAFD35-CB55-418C-8ACD-C8D1E5C976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B1B9F16-D863-45F9-B565-7C363922C3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066F552-85EE-4DFE-8476-274DFAC858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2970E09-D5F0-42C3-A0E9-A144A853F1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E866074-3314-4CE1-83E5-0497983F8B0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CAAC2DE-7827-4CBC-8530-89A81D1FE4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22A1C63-D305-4AAF-B4DA-FDAB69E376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F4E893E-77D6-487D-B3F8-EB81B2C7E2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751473C-E60C-4A95-87EA-B96A2547E5A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51B7909-3043-4FB8-BB68-FA759B5120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513CE61-30EF-4D4A-806F-ED24324A72B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E02B341-AA24-40E5-AE63-FB4897F8524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6DA6C6-C93B-4B48-A180-F1F373D4B074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0B6D71-FE6B-4704-89D3-A112FCFA8157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7C7853-91A3-4868-98F3-5BDADC992CC1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234DB5-20FE-45C8-A6B0-FE69A6018AAD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EF5CAC-5BC4-4EE7-A2EE-42E38F5071BA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EB54AC-956A-4B71-8857-EF6E1828A8D7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2CD9AB-F86F-4308-B3B5-A4EBC418E09B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95A90D-68E3-4556-A15D-18360B54345F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DCF0A8-95B7-4A49-8132-220E0E98D81D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29EBFB-F1C0-4835-A762-130E4DDCCB03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099BCC-9BE3-426C-874F-DD71F4351E92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1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2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3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586BB2-53DD-434E-82CC-F4A3B43A22F2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2AE806A-A84A-44EE-832E-73339D9FD4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8F87835-968D-4405-B948-1A4BB4B400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8DE3938-4908-47F1-9567-A033448189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4AE5C51-D264-48BE-8570-B88746905B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868DC56-005C-4521-91CF-18C3EBEF88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BE03FDC-29E2-45E5-B510-4CF8344F48B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AF77612-110D-4C46-8D72-46E51528AF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F7801CC-0455-463D-9045-B4226EFF5A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48A6AD2-08AA-457A-960E-913972FBBA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AF8B7FF-EDF2-497B-92C9-F26ABDBC13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156F710-7CB9-4013-9BAA-9BD5E603ECE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A86AB7F-4422-4790-BFC7-C3C6AFB813C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a39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10;p11"/>
          <p:cNvGrpSpPr/>
          <p:nvPr/>
        </p:nvGrpSpPr>
        <p:grpSpPr>
          <a:xfrm>
            <a:off x="6100920" y="0"/>
            <a:ext cx="3043080" cy="2030400"/>
            <a:chOff x="6100920" y="0"/>
            <a:chExt cx="3043080" cy="2030400"/>
          </a:xfrm>
        </p:grpSpPr>
        <p:sp>
          <p:nvSpPr>
            <p:cNvPr id="1" name="Google Shape;11;p11"/>
            <p:cNvSpPr/>
            <p:nvPr/>
          </p:nvSpPr>
          <p:spPr>
            <a:xfrm>
              <a:off x="8128800" y="0"/>
              <a:ext cx="1012680" cy="10126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" name="Google Shape;12;p11"/>
            <p:cNvSpPr/>
            <p:nvPr/>
          </p:nvSpPr>
          <p:spPr>
            <a:xfrm flipH="1">
              <a:off x="7110720" y="0"/>
              <a:ext cx="1012680" cy="1012680"/>
            </a:xfrm>
            <a:prstGeom prst="rtTriangl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" name="Google Shape;13;p11"/>
            <p:cNvSpPr/>
            <p:nvPr/>
          </p:nvSpPr>
          <p:spPr>
            <a:xfrm flipH="1" rot="10800000">
              <a:off x="7113240" y="2520"/>
              <a:ext cx="1012680" cy="1012680"/>
            </a:xfrm>
            <a:prstGeom prst="rtTriangle">
              <a:avLst/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Google Shape;14;p11"/>
            <p:cNvSpPr/>
            <p:nvPr/>
          </p:nvSpPr>
          <p:spPr>
            <a:xfrm rot="10800000">
              <a:off x="6100920" y="2520"/>
              <a:ext cx="1012680" cy="1012680"/>
            </a:xfrm>
            <a:prstGeom prst="rtTriangle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Google Shape;15;p11"/>
            <p:cNvSpPr/>
            <p:nvPr/>
          </p:nvSpPr>
          <p:spPr>
            <a:xfrm rot="10800000">
              <a:off x="8131320" y="1017720"/>
              <a:ext cx="1012680" cy="1012680"/>
            </a:xfrm>
            <a:prstGeom prst="rtTriangle">
              <a:avLst/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" name="PlaceHolder 1"/>
          <p:cNvSpPr>
            <a:spLocks noGrp="1"/>
          </p:cNvSpPr>
          <p:nvPr>
            <p:ph type="sldNum" idx="1"/>
          </p:nvPr>
        </p:nvSpPr>
        <p:spPr>
          <a:xfrm>
            <a:off x="8460360" y="465120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5FF8E7F-F1A1-41AE-B01E-13789B310129}" type="slidenum">
              <a:rPr b="0" lang="en" sz="10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80;p13"/>
          <p:cNvSpPr/>
          <p:nvPr/>
        </p:nvSpPr>
        <p:spPr>
          <a:xfrm>
            <a:off x="4572000" y="0"/>
            <a:ext cx="4569480" cy="51411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Google Shape;81;p13"/>
          <p:cNvSpPr/>
          <p:nvPr/>
        </p:nvSpPr>
        <p:spPr>
          <a:xfrm>
            <a:off x="5029560" y="4495680"/>
            <a:ext cx="4658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sldNum" idx="2"/>
          </p:nvPr>
        </p:nvSpPr>
        <p:spPr>
          <a:xfrm>
            <a:off x="8460360" y="465120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71985AC-D629-49D9-A809-87FEC784754C}" type="slidenum">
              <a:rPr b="0" lang="en" sz="10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146;p15" descr=""/>
          <p:cNvPicPr/>
          <p:nvPr/>
        </p:nvPicPr>
        <p:blipFill>
          <a:blip r:embed="rId2"/>
          <a:stretch/>
        </p:blipFill>
        <p:spPr>
          <a:xfrm>
            <a:off x="380880" y="4629240"/>
            <a:ext cx="3629160" cy="340560"/>
          </a:xfrm>
          <a:prstGeom prst="rect">
            <a:avLst/>
          </a:prstGeom>
          <a:ln w="0">
            <a:noFill/>
          </a:ln>
        </p:spPr>
      </p:pic>
      <p:pic>
        <p:nvPicPr>
          <p:cNvPr id="87" name="Google Shape;147;p15" descr=""/>
          <p:cNvPicPr/>
          <p:nvPr/>
        </p:nvPicPr>
        <p:blipFill>
          <a:blip r:embed="rId3"/>
          <a:stretch/>
        </p:blipFill>
        <p:spPr>
          <a:xfrm>
            <a:off x="5867280" y="4625280"/>
            <a:ext cx="1960560" cy="40896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ftr" idx="3"/>
          </p:nvPr>
        </p:nvSpPr>
        <p:spPr>
          <a:xfrm>
            <a:off x="3124080" y="4767120"/>
            <a:ext cx="289296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ldNum" idx="4"/>
          </p:nvPr>
        </p:nvSpPr>
        <p:spPr>
          <a:xfrm>
            <a:off x="6553080" y="4767120"/>
            <a:ext cx="213120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" sz="18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4DFDD513-EF68-4358-97BF-BD02CDC1D32C}" type="slidenum">
              <a:rPr b="0" lang="en" sz="18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dt" idx="5"/>
          </p:nvPr>
        </p:nvSpPr>
        <p:spPr>
          <a:xfrm>
            <a:off x="457200" y="4767120"/>
            <a:ext cx="213120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238;p17"/>
          <p:cNvGrpSpPr/>
          <p:nvPr/>
        </p:nvGrpSpPr>
        <p:grpSpPr>
          <a:xfrm>
            <a:off x="0" y="3903840"/>
            <a:ext cx="9144000" cy="1237320"/>
            <a:chOff x="0" y="3903840"/>
            <a:chExt cx="9144000" cy="1237320"/>
          </a:xfrm>
        </p:grpSpPr>
        <p:sp>
          <p:nvSpPr>
            <p:cNvPr id="130" name="Google Shape;239;p17"/>
            <p:cNvSpPr/>
            <p:nvPr/>
          </p:nvSpPr>
          <p:spPr>
            <a:xfrm>
              <a:off x="8154720" y="3903840"/>
              <a:ext cx="986760" cy="985320"/>
            </a:xfrm>
            <a:prstGeom prst="rtTriangle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Google Shape;240;p17"/>
            <p:cNvSpPr/>
            <p:nvPr/>
          </p:nvSpPr>
          <p:spPr>
            <a:xfrm flipH="1">
              <a:off x="6178320" y="3903840"/>
              <a:ext cx="986760" cy="985320"/>
            </a:xfrm>
            <a:prstGeom prst="rtTriangle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Google Shape;241;p17"/>
            <p:cNvSpPr/>
            <p:nvPr/>
          </p:nvSpPr>
          <p:spPr>
            <a:xfrm>
              <a:off x="7170120" y="3903840"/>
              <a:ext cx="986760" cy="985320"/>
            </a:xfrm>
            <a:prstGeom prst="rect">
              <a:avLst/>
            </a:pr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Google Shape;242;p17"/>
            <p:cNvSpPr/>
            <p:nvPr/>
          </p:nvSpPr>
          <p:spPr>
            <a:xfrm rot="10800000">
              <a:off x="8157240" y="3906360"/>
              <a:ext cx="986760" cy="985320"/>
            </a:xfrm>
            <a:prstGeom prst="rtTriangle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" name="Google Shape;243;p17"/>
            <p:cNvSpPr/>
            <p:nvPr/>
          </p:nvSpPr>
          <p:spPr>
            <a:xfrm>
              <a:off x="0" y="4891680"/>
              <a:ext cx="9141480" cy="24948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5" name="PlaceHolder 1"/>
          <p:cNvSpPr>
            <a:spLocks noGrp="1"/>
          </p:cNvSpPr>
          <p:nvPr>
            <p:ph type="sldNum" idx="6"/>
          </p:nvPr>
        </p:nvSpPr>
        <p:spPr>
          <a:xfrm>
            <a:off x="8460360" y="465120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06F80FC-2282-49E8-8342-B42B70119B01}" type="slidenum">
              <a:rPr b="0" lang="en" sz="1000" spc="-1" strike="noStrike">
                <a:solidFill>
                  <a:srgbClr val="ffffff"/>
                </a:solidFill>
                <a:latin typeface="Roboto"/>
                <a:ea typeface="Roboto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308;p19" descr=""/>
          <p:cNvPicPr/>
          <p:nvPr/>
        </p:nvPicPr>
        <p:blipFill>
          <a:blip r:embed="rId2"/>
          <a:stretch/>
        </p:blipFill>
        <p:spPr>
          <a:xfrm>
            <a:off x="380880" y="4629240"/>
            <a:ext cx="3629160" cy="340560"/>
          </a:xfrm>
          <a:prstGeom prst="rect">
            <a:avLst/>
          </a:prstGeom>
          <a:ln w="0">
            <a:noFill/>
          </a:ln>
        </p:spPr>
      </p:pic>
      <p:pic>
        <p:nvPicPr>
          <p:cNvPr id="175" name="Google Shape;309;p19" descr=""/>
          <p:cNvPicPr/>
          <p:nvPr/>
        </p:nvPicPr>
        <p:blipFill>
          <a:blip r:embed="rId3"/>
          <a:stretch/>
        </p:blipFill>
        <p:spPr>
          <a:xfrm>
            <a:off x="5867280" y="4625280"/>
            <a:ext cx="1960560" cy="408960"/>
          </a:xfrm>
          <a:prstGeom prst="rect">
            <a:avLst/>
          </a:prstGeom>
          <a:ln w="0">
            <a:noFill/>
          </a:ln>
        </p:spPr>
      </p:pic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4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4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ftr" idx="7"/>
          </p:nvPr>
        </p:nvSpPr>
        <p:spPr>
          <a:xfrm>
            <a:off x="3124080" y="4767120"/>
            <a:ext cx="289296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80" name="PlaceHolder 5"/>
          <p:cNvSpPr>
            <a:spLocks noGrp="1"/>
          </p:cNvSpPr>
          <p:nvPr>
            <p:ph type="sldNum" idx="8"/>
          </p:nvPr>
        </p:nvSpPr>
        <p:spPr>
          <a:xfrm>
            <a:off x="6553080" y="4767120"/>
            <a:ext cx="213120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" sz="1800" spc="-1" strike="noStrike">
                <a:solidFill>
                  <a:srgbClr val="000000"/>
                </a:solidFill>
                <a:latin typeface="Calibri"/>
                <a:ea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fld id="{92EED3EE-8014-41CC-B90F-4A5DC7A41832}" type="slidenum">
              <a:rPr b="0" lang="en" sz="1800" spc="-1" strike="noStrike">
                <a:solidFill>
                  <a:srgbClr val="000000"/>
                </a:solidFill>
                <a:latin typeface="Calibri"/>
                <a:ea typeface="Calibri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  <p:sp>
        <p:nvSpPr>
          <p:cNvPr id="181" name="PlaceHolder 6"/>
          <p:cNvSpPr>
            <a:spLocks noGrp="1"/>
          </p:cNvSpPr>
          <p:nvPr>
            <p:ph type="dt" idx="9"/>
          </p:nvPr>
        </p:nvSpPr>
        <p:spPr>
          <a:xfrm>
            <a:off x="457200" y="4767120"/>
            <a:ext cx="2131200" cy="2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597960" y="1775160"/>
            <a:ext cx="8219520" cy="836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pc="-1" strike="noStrike">
                <a:solidFill>
                  <a:srgbClr val="ffffff"/>
                </a:solidFill>
                <a:latin typeface="Roboto"/>
                <a:ea typeface="Roboto"/>
              </a:rPr>
              <a:t>How to Write an Outline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subTitle"/>
          </p:nvPr>
        </p:nvSpPr>
        <p:spPr>
          <a:xfrm>
            <a:off x="597960" y="2715840"/>
            <a:ext cx="8219520" cy="4305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ffffff"/>
                </a:solidFill>
                <a:latin typeface="Roboto"/>
                <a:ea typeface="Roboto"/>
              </a:rPr>
              <a:t>URI Graduate Writing Center, Spring 2021</a:t>
            </a:r>
            <a:endParaRPr b="0" lang="en-US" sz="2100" spc="-1" strike="noStrike">
              <a:latin typeface="Arial"/>
            </a:endParaRPr>
          </a:p>
        </p:txBody>
      </p:sp>
      <p:pic>
        <p:nvPicPr>
          <p:cNvPr id="226" name="Google Shape;406;p1" descr=""/>
          <p:cNvPicPr/>
          <p:nvPr/>
        </p:nvPicPr>
        <p:blipFill>
          <a:blip r:embed="rId1"/>
          <a:srcRect l="23148" t="15780" r="24682" b="9781"/>
          <a:stretch/>
        </p:blipFill>
        <p:spPr>
          <a:xfrm>
            <a:off x="7125840" y="2481480"/>
            <a:ext cx="1449720" cy="2321640"/>
          </a:xfrm>
          <a:prstGeom prst="rect">
            <a:avLst/>
          </a:prstGeom>
          <a:ln w="0">
            <a:noFill/>
          </a:ln>
        </p:spPr>
      </p:pic>
      <p:sp>
        <p:nvSpPr>
          <p:cNvPr id="227" name="Google Shape;407;p1"/>
          <p:cNvSpPr/>
          <p:nvPr/>
        </p:nvSpPr>
        <p:spPr>
          <a:xfrm>
            <a:off x="357120" y="1448280"/>
            <a:ext cx="6238800" cy="203112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Google Shape;408;p1"/>
          <p:cNvSpPr/>
          <p:nvPr/>
        </p:nvSpPr>
        <p:spPr>
          <a:xfrm flipH="1">
            <a:off x="6595920" y="2579760"/>
            <a:ext cx="1440" cy="351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2a39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Google Shape;409;p1"/>
          <p:cNvSpPr/>
          <p:nvPr/>
        </p:nvSpPr>
        <p:spPr>
          <a:xfrm>
            <a:off x="6598080" y="2571840"/>
            <a:ext cx="698760" cy="519120"/>
          </a:xfrm>
          <a:custGeom>
            <a:avLst/>
            <a:gdLst/>
            <a:ahLst/>
            <a:rect l="l" t="t" r="r" b="b"/>
            <a:pathLst>
              <a:path w="27977" h="21952">
                <a:moveTo>
                  <a:pt x="431" y="0"/>
                </a:moveTo>
                <a:lnTo>
                  <a:pt x="27977" y="21952"/>
                </a:lnTo>
                <a:lnTo>
                  <a:pt x="0" y="15495"/>
                </a:lnTo>
              </a:path>
            </a:pathLst>
          </a:custGeom>
          <a:noFill/>
          <a:ln w="9525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265680" y="1576080"/>
            <a:ext cx="4042800" cy="198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pc="-1" strike="noStrike">
                <a:solidFill>
                  <a:srgbClr val="2a3990"/>
                </a:solidFill>
                <a:latin typeface="Roboto"/>
                <a:ea typeface="Roboto"/>
              </a:rPr>
              <a:t>Why should you prepare an outline?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231" name="Google Shape;415;p2"/>
          <p:cNvSpPr/>
          <p:nvPr/>
        </p:nvSpPr>
        <p:spPr>
          <a:xfrm>
            <a:off x="6133320" y="2082600"/>
            <a:ext cx="1320840" cy="1318320"/>
          </a:xfrm>
          <a:prstGeom prst="ellipse">
            <a:avLst/>
          </a:prstGeom>
          <a:solidFill>
            <a:srgbClr val="f48fb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rgbClr val="9c254d"/>
                </a:solidFill>
                <a:latin typeface="Arial"/>
                <a:ea typeface="Arial"/>
              </a:rPr>
              <a:t>?</a:t>
            </a:r>
            <a:endParaRPr b="0" lang="en-US" sz="3000" spc="-1" strike="noStrike">
              <a:latin typeface="Arial"/>
            </a:endParaRPr>
          </a:p>
        </p:txBody>
      </p:sp>
      <p:grpSp>
        <p:nvGrpSpPr>
          <p:cNvPr id="232" name="Google Shape;416;p2"/>
          <p:cNvGrpSpPr/>
          <p:nvPr/>
        </p:nvGrpSpPr>
        <p:grpSpPr>
          <a:xfrm>
            <a:off x="6416640" y="1719360"/>
            <a:ext cx="2954880" cy="3294720"/>
            <a:chOff x="6416640" y="1719360"/>
            <a:chExt cx="2954880" cy="3294720"/>
          </a:xfrm>
        </p:grpSpPr>
        <p:sp>
          <p:nvSpPr>
            <p:cNvPr id="233" name="Google Shape;417;p2"/>
            <p:cNvSpPr/>
            <p:nvPr/>
          </p:nvSpPr>
          <p:spPr>
            <a:xfrm rot="18319800">
              <a:off x="6367320" y="2761920"/>
              <a:ext cx="3181680" cy="1209240"/>
            </a:xfrm>
            <a:custGeom>
              <a:avLst/>
              <a:gdLst/>
              <a:ahLst/>
              <a:rect l="l" t="t" r="r" b="b"/>
              <a:pathLst>
                <a:path w="492" h="187">
                  <a:moveTo>
                    <a:pt x="457" y="0"/>
                  </a:moveTo>
                  <a:cubicBezTo>
                    <a:pt x="416" y="91"/>
                    <a:pt x="325" y="155"/>
                    <a:pt x="218" y="155"/>
                  </a:cubicBezTo>
                  <a:cubicBezTo>
                    <a:pt x="137" y="155"/>
                    <a:pt x="64" y="118"/>
                    <a:pt x="17" y="60"/>
                  </a:cubicBezTo>
                  <a:cubicBezTo>
                    <a:pt x="11" y="70"/>
                    <a:pt x="5" y="80"/>
                    <a:pt x="0" y="90"/>
                  </a:cubicBezTo>
                  <a:cubicBezTo>
                    <a:pt x="54" y="150"/>
                    <a:pt x="132" y="187"/>
                    <a:pt x="218" y="187"/>
                  </a:cubicBezTo>
                  <a:cubicBezTo>
                    <a:pt x="343" y="187"/>
                    <a:pt x="449" y="109"/>
                    <a:pt x="492" y="0"/>
                  </a:cubicBezTo>
                  <a:cubicBezTo>
                    <a:pt x="480" y="0"/>
                    <a:pt x="468" y="1"/>
                    <a:pt x="457" y="0"/>
                  </a:cubicBezTo>
                  <a:close/>
                </a:path>
              </a:pathLst>
            </a:custGeom>
            <a:solidFill>
              <a:srgbClr val="f48fb0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" name="Google Shape;418;p2"/>
            <p:cNvSpPr/>
            <p:nvPr/>
          </p:nvSpPr>
          <p:spPr>
            <a:xfrm rot="18319800">
              <a:off x="6332040" y="2658600"/>
              <a:ext cx="2727000" cy="1202760"/>
            </a:xfrm>
            <a:custGeom>
              <a:avLst/>
              <a:gdLst/>
              <a:ahLst/>
              <a:rect l="l" t="t" r="r" b="b"/>
              <a:pathLst>
                <a:path w="440" h="194">
                  <a:moveTo>
                    <a:pt x="262" y="39"/>
                  </a:moveTo>
                  <a:cubicBezTo>
                    <a:pt x="206" y="71"/>
                    <a:pt x="134" y="53"/>
                    <a:pt x="100" y="0"/>
                  </a:cubicBezTo>
                  <a:cubicBezTo>
                    <a:pt x="57" y="25"/>
                    <a:pt x="24" y="60"/>
                    <a:pt x="0" y="99"/>
                  </a:cubicBezTo>
                  <a:cubicBezTo>
                    <a:pt x="47" y="157"/>
                    <a:pt x="120" y="194"/>
                    <a:pt x="201" y="194"/>
                  </a:cubicBezTo>
                  <a:cubicBezTo>
                    <a:pt x="308" y="194"/>
                    <a:pt x="399" y="130"/>
                    <a:pt x="440" y="39"/>
                  </a:cubicBezTo>
                  <a:cubicBezTo>
                    <a:pt x="393" y="37"/>
                    <a:pt x="346" y="24"/>
                    <a:pt x="303" y="0"/>
                  </a:cubicBezTo>
                  <a:cubicBezTo>
                    <a:pt x="292" y="15"/>
                    <a:pt x="279" y="29"/>
                    <a:pt x="262" y="39"/>
                  </a:cubicBezTo>
                  <a:close/>
                </a:path>
              </a:pathLst>
            </a:custGeom>
            <a:solidFill>
              <a:srgbClr val="e1165a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5" name="Google Shape;419;p2"/>
            <p:cNvSpPr/>
            <p:nvPr/>
          </p:nvSpPr>
          <p:spPr>
            <a:xfrm rot="17820600">
              <a:off x="6964200" y="3062160"/>
              <a:ext cx="1575360" cy="56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Follow Genre Structure</a:t>
              </a:r>
              <a:r>
                <a:rPr b="0" lang="en" sz="10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 </a:t>
              </a:r>
              <a:endParaRPr b="0" lang="en-US" sz="1000" spc="-1" strike="noStrike">
                <a:latin typeface="Arial"/>
              </a:endParaRPr>
            </a:p>
          </p:txBody>
        </p:sp>
      </p:grpSp>
      <p:grpSp>
        <p:nvGrpSpPr>
          <p:cNvPr id="236" name="Google Shape;420;p2"/>
          <p:cNvGrpSpPr/>
          <p:nvPr/>
        </p:nvGrpSpPr>
        <p:grpSpPr>
          <a:xfrm>
            <a:off x="5089320" y="127440"/>
            <a:ext cx="3290040" cy="3219480"/>
            <a:chOff x="5089320" y="127440"/>
            <a:chExt cx="3290040" cy="3219480"/>
          </a:xfrm>
        </p:grpSpPr>
        <p:sp>
          <p:nvSpPr>
            <p:cNvPr id="237" name="Google Shape;421;p2"/>
            <p:cNvSpPr/>
            <p:nvPr/>
          </p:nvSpPr>
          <p:spPr>
            <a:xfrm rot="18319800">
              <a:off x="5641200" y="495360"/>
              <a:ext cx="2185920" cy="2483280"/>
            </a:xfrm>
            <a:custGeom>
              <a:avLst/>
              <a:gdLst/>
              <a:ahLst/>
              <a:rect l="l" t="t" r="r" b="b"/>
              <a:pathLst>
                <a:path w="338" h="384">
                  <a:moveTo>
                    <a:pt x="45" y="32"/>
                  </a:moveTo>
                  <a:cubicBezTo>
                    <a:pt x="189" y="32"/>
                    <a:pt x="306" y="148"/>
                    <a:pt x="306" y="292"/>
                  </a:cubicBezTo>
                  <a:cubicBezTo>
                    <a:pt x="306" y="325"/>
                    <a:pt x="300" y="355"/>
                    <a:pt x="289" y="384"/>
                  </a:cubicBezTo>
                  <a:cubicBezTo>
                    <a:pt x="301" y="384"/>
                    <a:pt x="312" y="384"/>
                    <a:pt x="324" y="383"/>
                  </a:cubicBezTo>
                  <a:cubicBezTo>
                    <a:pt x="333" y="354"/>
                    <a:pt x="338" y="324"/>
                    <a:pt x="338" y="292"/>
                  </a:cubicBezTo>
                  <a:cubicBezTo>
                    <a:pt x="338" y="131"/>
                    <a:pt x="207" y="0"/>
                    <a:pt x="45" y="0"/>
                  </a:cubicBezTo>
                  <a:cubicBezTo>
                    <a:pt x="30" y="0"/>
                    <a:pt x="15" y="1"/>
                    <a:pt x="0" y="3"/>
                  </a:cubicBezTo>
                  <a:cubicBezTo>
                    <a:pt x="6" y="13"/>
                    <a:pt x="12" y="23"/>
                    <a:pt x="18" y="33"/>
                  </a:cubicBezTo>
                  <a:cubicBezTo>
                    <a:pt x="27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rgbClr val="f48fb0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8" name="Google Shape;422;p2"/>
            <p:cNvSpPr/>
            <p:nvPr/>
          </p:nvSpPr>
          <p:spPr>
            <a:xfrm rot="18319800">
              <a:off x="5898960" y="779400"/>
              <a:ext cx="1787760" cy="2183400"/>
            </a:xfrm>
            <a:custGeom>
              <a:avLst/>
              <a:gdLst/>
              <a:ahLst/>
              <a:rect l="l" t="t" r="r" b="b"/>
              <a:pathLst>
                <a:path w="288" h="352">
                  <a:moveTo>
                    <a:pt x="27" y="0"/>
                  </a:moveTo>
                  <a:cubicBezTo>
                    <a:pt x="18" y="0"/>
                    <a:pt x="9" y="0"/>
                    <a:pt x="0" y="1"/>
                  </a:cubicBezTo>
                  <a:cubicBezTo>
                    <a:pt x="21" y="43"/>
                    <a:pt x="34" y="90"/>
                    <a:pt x="35" y="140"/>
                  </a:cubicBezTo>
                  <a:cubicBezTo>
                    <a:pt x="74" y="142"/>
                    <a:pt x="111" y="163"/>
                    <a:pt x="132" y="200"/>
                  </a:cubicBezTo>
                  <a:cubicBezTo>
                    <a:pt x="153" y="236"/>
                    <a:pt x="153" y="279"/>
                    <a:pt x="136" y="315"/>
                  </a:cubicBezTo>
                  <a:cubicBezTo>
                    <a:pt x="179" y="339"/>
                    <a:pt x="225" y="351"/>
                    <a:pt x="271" y="352"/>
                  </a:cubicBezTo>
                  <a:cubicBezTo>
                    <a:pt x="282" y="323"/>
                    <a:pt x="288" y="293"/>
                    <a:pt x="288" y="260"/>
                  </a:cubicBezTo>
                  <a:cubicBezTo>
                    <a:pt x="288" y="116"/>
                    <a:pt x="171" y="0"/>
                    <a:pt x="27" y="0"/>
                  </a:cubicBezTo>
                  <a:close/>
                </a:path>
              </a:pathLst>
            </a:custGeom>
            <a:solidFill>
              <a:srgbClr val="b61249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" name="Google Shape;423;p2"/>
            <p:cNvSpPr/>
            <p:nvPr/>
          </p:nvSpPr>
          <p:spPr>
            <a:xfrm>
              <a:off x="6015600" y="1351440"/>
              <a:ext cx="1575360" cy="56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Organize Your Ideas</a:t>
              </a:r>
              <a:endParaRPr b="0" lang="en-US" sz="1400" spc="-1" strike="noStrike">
                <a:latin typeface="Arial"/>
              </a:endParaRPr>
            </a:p>
          </p:txBody>
        </p:sp>
      </p:grpSp>
      <p:grpSp>
        <p:nvGrpSpPr>
          <p:cNvPr id="240" name="Google Shape;424;p2"/>
          <p:cNvGrpSpPr/>
          <p:nvPr/>
        </p:nvGrpSpPr>
        <p:grpSpPr>
          <a:xfrm>
            <a:off x="4191120" y="1884240"/>
            <a:ext cx="3421080" cy="3117960"/>
            <a:chOff x="4191120" y="1884240"/>
            <a:chExt cx="3421080" cy="3117960"/>
          </a:xfrm>
        </p:grpSpPr>
        <p:sp>
          <p:nvSpPr>
            <p:cNvPr id="241" name="Google Shape;425;p2"/>
            <p:cNvSpPr/>
            <p:nvPr/>
          </p:nvSpPr>
          <p:spPr>
            <a:xfrm rot="18319800">
              <a:off x="5090040" y="1938960"/>
              <a:ext cx="1622520" cy="3043080"/>
            </a:xfrm>
            <a:custGeom>
              <a:avLst/>
              <a:gdLst/>
              <a:ahLst/>
              <a:rect l="l" t="t" r="r" b="b"/>
              <a:pathLst>
                <a:path w="251" h="470">
                  <a:moveTo>
                    <a:pt x="32" y="286"/>
                  </a:moveTo>
                  <a:cubicBezTo>
                    <a:pt x="32" y="157"/>
                    <a:pt x="127" y="49"/>
                    <a:pt x="251" y="29"/>
                  </a:cubicBezTo>
                  <a:cubicBezTo>
                    <a:pt x="245" y="19"/>
                    <a:pt x="239" y="9"/>
                    <a:pt x="233" y="0"/>
                  </a:cubicBezTo>
                  <a:cubicBezTo>
                    <a:pt x="100" y="28"/>
                    <a:pt x="0" y="145"/>
                    <a:pt x="0" y="286"/>
                  </a:cubicBezTo>
                  <a:cubicBezTo>
                    <a:pt x="0" y="356"/>
                    <a:pt x="25" y="420"/>
                    <a:pt x="65" y="470"/>
                  </a:cubicBezTo>
                  <a:cubicBezTo>
                    <a:pt x="70" y="460"/>
                    <a:pt x="76" y="450"/>
                    <a:pt x="82" y="440"/>
                  </a:cubicBezTo>
                  <a:cubicBezTo>
                    <a:pt x="51" y="397"/>
                    <a:pt x="32" y="344"/>
                    <a:pt x="32" y="286"/>
                  </a:cubicBezTo>
                  <a:close/>
                </a:path>
              </a:pathLst>
            </a:custGeom>
            <a:solidFill>
              <a:srgbClr val="f48fb0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2" name="Google Shape;426;p2"/>
            <p:cNvSpPr/>
            <p:nvPr/>
          </p:nvSpPr>
          <p:spPr>
            <a:xfrm rot="18319800">
              <a:off x="5267880" y="1988280"/>
              <a:ext cx="1573200" cy="2548080"/>
            </a:xfrm>
            <a:custGeom>
              <a:avLst/>
              <a:gdLst/>
              <a:ahLst/>
              <a:rect l="l" t="t" r="r" b="b"/>
              <a:pathLst>
                <a:path w="254" h="411">
                  <a:moveTo>
                    <a:pt x="152" y="311"/>
                  </a:moveTo>
                  <a:cubicBezTo>
                    <a:pt x="124" y="254"/>
                    <a:pt x="145" y="185"/>
                    <a:pt x="200" y="153"/>
                  </a:cubicBezTo>
                  <a:cubicBezTo>
                    <a:pt x="217" y="143"/>
                    <a:pt x="236" y="137"/>
                    <a:pt x="254" y="136"/>
                  </a:cubicBezTo>
                  <a:cubicBezTo>
                    <a:pt x="253" y="87"/>
                    <a:pt x="241" y="41"/>
                    <a:pt x="219" y="0"/>
                  </a:cubicBezTo>
                  <a:cubicBezTo>
                    <a:pt x="95" y="20"/>
                    <a:pt x="0" y="128"/>
                    <a:pt x="0" y="257"/>
                  </a:cubicBezTo>
                  <a:cubicBezTo>
                    <a:pt x="0" y="315"/>
                    <a:pt x="19" y="368"/>
                    <a:pt x="50" y="411"/>
                  </a:cubicBezTo>
                  <a:cubicBezTo>
                    <a:pt x="75" y="371"/>
                    <a:pt x="110" y="337"/>
                    <a:pt x="152" y="311"/>
                  </a:cubicBezTo>
                  <a:close/>
                </a:path>
              </a:pathLst>
            </a:custGeom>
            <a:solidFill>
              <a:srgbClr val="840d35"/>
            </a:solidFill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" name="Google Shape;427;p2"/>
            <p:cNvSpPr/>
            <p:nvPr/>
          </p:nvSpPr>
          <p:spPr>
            <a:xfrm flipH="1" rot="3725400">
              <a:off x="5095080" y="3061800"/>
              <a:ext cx="1575000" cy="56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" sz="1400" spc="-1" strike="noStrike">
                  <a:solidFill>
                    <a:srgbClr val="ffffff"/>
                  </a:solidFill>
                  <a:latin typeface="Roboto"/>
                  <a:ea typeface="Roboto"/>
                </a:rPr>
                <a:t>Accountability </a:t>
              </a:r>
              <a:endParaRPr b="0" lang="en-US" sz="14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5189760" cy="85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Concept Map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683960" cy="339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Main idea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Sub topics</a:t>
            </a:r>
            <a:endParaRPr b="0" lang="en-US" sz="3200" spc="-1" strike="noStrike">
              <a:latin typeface="Arial"/>
            </a:endParaRPr>
          </a:p>
          <a:p>
            <a:pPr lvl="1" marL="9144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first point of sub topics</a:t>
            </a:r>
            <a:endParaRPr b="0" lang="en-US" sz="2800" spc="-1" strike="noStrike">
              <a:latin typeface="Arial"/>
            </a:endParaRPr>
          </a:p>
          <a:p>
            <a:pPr lvl="1" marL="9144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second point of sub topics</a:t>
            </a:r>
            <a:endParaRPr b="0" lang="en-US" sz="28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continuation of the sub topics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246" name="Google Shape;434;p3" descr=""/>
          <p:cNvPicPr/>
          <p:nvPr/>
        </p:nvPicPr>
        <p:blipFill>
          <a:blip r:embed="rId1"/>
          <a:stretch/>
        </p:blipFill>
        <p:spPr>
          <a:xfrm>
            <a:off x="5437800" y="115200"/>
            <a:ext cx="3025800" cy="42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17960" cy="605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rgbClr val="2a3990"/>
                </a:solidFill>
                <a:latin typeface="Roboto"/>
                <a:ea typeface="Roboto"/>
              </a:rPr>
              <a:t>Structuring your outline: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311760" y="1218960"/>
            <a:ext cx="8517960" cy="3336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3012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600" spc="-1" strike="noStrike">
                <a:solidFill>
                  <a:srgbClr val="434343"/>
                </a:solidFill>
                <a:latin typeface="Roboto"/>
                <a:ea typeface="Roboto"/>
              </a:rPr>
              <a:t>Introduction</a:t>
            </a:r>
            <a:endParaRPr b="0" lang="en-US" sz="16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Interesting opening “hook”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Background info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Thesis statement</a:t>
            </a:r>
            <a:endParaRPr b="0" lang="en-US" sz="1400" spc="-1" strike="noStrike"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600" spc="-1" strike="noStrike">
                <a:solidFill>
                  <a:srgbClr val="434343"/>
                </a:solidFill>
                <a:latin typeface="Roboto"/>
                <a:ea typeface="Roboto"/>
              </a:rPr>
              <a:t>Body</a:t>
            </a:r>
            <a:endParaRPr b="0" lang="en-US" sz="16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1st main supporting point → topic sentence(s)</a:t>
            </a:r>
            <a:endParaRPr b="0" lang="en-US" sz="1400" spc="-1" strike="noStrike">
              <a:latin typeface="Arial"/>
            </a:endParaRPr>
          </a:p>
          <a:p>
            <a:pPr lvl="2" marL="13716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Supporting arguments and information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2nd main supporting point → topic sentence(s)</a:t>
            </a:r>
            <a:endParaRPr b="0" lang="en-US" sz="1400" spc="-1" strike="noStrike">
              <a:latin typeface="Arial"/>
            </a:endParaRPr>
          </a:p>
          <a:p>
            <a:pPr lvl="2" marL="13716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Supporting arguments and information</a:t>
            </a:r>
            <a:endParaRPr b="0" lang="en-US" sz="1400" spc="-1" strike="noStrike"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600" spc="-1" strike="noStrike">
                <a:solidFill>
                  <a:srgbClr val="434343"/>
                </a:solidFill>
                <a:latin typeface="Roboto"/>
                <a:ea typeface="Roboto"/>
              </a:rPr>
              <a:t>Conclusion</a:t>
            </a:r>
            <a:endParaRPr b="0" lang="en-US" sz="16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Reiterate thesis statement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Summarize supporting arguments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249" name="Google Shape;441;p4"/>
          <p:cNvSpPr/>
          <p:nvPr/>
        </p:nvSpPr>
        <p:spPr>
          <a:xfrm flipH="1">
            <a:off x="4723200" y="410040"/>
            <a:ext cx="3311640" cy="1573920"/>
          </a:xfrm>
          <a:prstGeom prst="wedgeEllipseCallout">
            <a:avLst>
              <a:gd name="adj1" fmla="val -20833"/>
              <a:gd name="adj2" fmla="val 62500"/>
            </a:avLst>
          </a:prstGeom>
          <a:noFill/>
          <a:ln w="952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9c254d"/>
                </a:solidFill>
                <a:latin typeface="Roboto"/>
                <a:ea typeface="Roboto"/>
              </a:rPr>
              <a:t>You don’t have to draft the paper in this same order! Try writing the body, then intro, then conclusion. 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50" name="Google Shape;442;p4" descr=""/>
          <p:cNvPicPr/>
          <p:nvPr/>
        </p:nvPicPr>
        <p:blipFill>
          <a:blip r:embed="rId1"/>
          <a:srcRect l="23148" t="15780" r="24682" b="9781"/>
          <a:stretch/>
        </p:blipFill>
        <p:spPr>
          <a:xfrm>
            <a:off x="7115040" y="1641960"/>
            <a:ext cx="1449720" cy="232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311760" y="147600"/>
            <a:ext cx="8517960" cy="605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600" spc="-1" strike="noStrike">
                <a:solidFill>
                  <a:srgbClr val="2a3990"/>
                </a:solidFill>
                <a:latin typeface="Roboto"/>
                <a:ea typeface="Roboto"/>
              </a:rPr>
              <a:t>Structuring your outline: IMRAD formatted manuscripts*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311760" y="755280"/>
            <a:ext cx="5330520" cy="4159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Introduction</a:t>
            </a:r>
            <a:endParaRPr b="0" lang="en-US" sz="1800" spc="-1" strike="noStrike">
              <a:latin typeface="Arial"/>
            </a:endParaRPr>
          </a:p>
          <a:p>
            <a:pPr lvl="1" marL="9144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Set the context</a:t>
            </a:r>
            <a:endParaRPr b="0" lang="en-US" sz="1300" spc="-1" strike="noStrike">
              <a:latin typeface="Arial"/>
            </a:endParaRPr>
          </a:p>
          <a:p>
            <a:pPr lvl="2" marL="13716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Credible background information</a:t>
            </a:r>
            <a:endParaRPr b="0" lang="en-US" sz="1300" spc="-1" strike="noStrike">
              <a:latin typeface="Arial"/>
            </a:endParaRPr>
          </a:p>
          <a:p>
            <a:pPr lvl="2" marL="13716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roman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Previous research</a:t>
            </a:r>
            <a:endParaRPr b="0" lang="en-US" sz="1300" spc="-1" strike="noStrike">
              <a:latin typeface="Arial"/>
            </a:endParaRPr>
          </a:p>
          <a:p>
            <a:pPr lvl="1" marL="9144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Define the knowledge gap</a:t>
            </a:r>
            <a:endParaRPr b="0" lang="en-US" sz="1300" spc="-1" strike="noStrike">
              <a:latin typeface="Arial"/>
            </a:endParaRPr>
          </a:p>
          <a:p>
            <a:pPr lvl="1" marL="914400" indent="-31104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300" spc="-1" strike="noStrike">
                <a:solidFill>
                  <a:srgbClr val="434343"/>
                </a:solidFill>
                <a:latin typeface="Roboto"/>
                <a:ea typeface="Roboto"/>
              </a:rPr>
              <a:t>Outline your objectives, hypotheses, or research questions</a:t>
            </a:r>
            <a:endParaRPr b="0" lang="en-US" sz="13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Methods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Study site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Study population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Research steps</a:t>
            </a:r>
            <a:endParaRPr b="0" lang="en-US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Results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Follow the same layout as the methods section</a:t>
            </a:r>
            <a:endParaRPr b="0" lang="en-US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AutoNum type="arabicPeriod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Discussion/Conclusion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link back to introduction, come full circle</a:t>
            </a:r>
            <a:endParaRPr b="0" lang="en-US" sz="14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AutoNum type="alphaLcPeriod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How did this research fill a knowledge gap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253" name="Google Shape;449;p5" descr=""/>
          <p:cNvPicPr/>
          <p:nvPr/>
        </p:nvPicPr>
        <p:blipFill>
          <a:blip r:embed="rId1"/>
          <a:stretch/>
        </p:blipFill>
        <p:spPr>
          <a:xfrm>
            <a:off x="4635720" y="755280"/>
            <a:ext cx="4194000" cy="3047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311760" y="410040"/>
            <a:ext cx="8517960" cy="605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2a3990"/>
                </a:solidFill>
                <a:latin typeface="Roboto"/>
                <a:ea typeface="Roboto"/>
              </a:rPr>
              <a:t>Reverse Outlines: Produce an outline from a draft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311760" y="1229760"/>
            <a:ext cx="4257720" cy="3336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Ideas evolve as you write, so sometimes a reverse outline may better suit your needs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If you write to think</a:t>
            </a:r>
            <a:endParaRPr b="0" lang="en-US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Checks your organization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Identify main points to easily move sections around in your draft</a:t>
            </a:r>
            <a:endParaRPr b="0" lang="en-US" sz="1400" spc="-1" strike="noStrike"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434343"/>
              </a:buClr>
              <a:buFont typeface="Roboto"/>
              <a:buChar char="●"/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You can do both! </a:t>
            </a:r>
            <a:endParaRPr b="0" lang="en-US" sz="1800" spc="-1" strike="noStrike">
              <a:latin typeface="Arial"/>
            </a:endParaRPr>
          </a:p>
          <a:p>
            <a:pPr lvl="1" marL="914400" indent="-317520">
              <a:lnSpc>
                <a:spcPct val="115000"/>
              </a:lnSpc>
              <a:buClr>
                <a:srgbClr val="434343"/>
              </a:buClr>
              <a:buFont typeface="Roboto"/>
              <a:buChar char="○"/>
            </a:pPr>
            <a:r>
              <a:rPr b="0" lang="en" sz="1400" spc="-1" strike="noStrike">
                <a:solidFill>
                  <a:srgbClr val="434343"/>
                </a:solidFill>
                <a:latin typeface="Roboto"/>
                <a:ea typeface="Roboto"/>
              </a:rPr>
              <a:t>Compare your reverse outline to your original outline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434343"/>
                </a:solidFill>
                <a:latin typeface="Roboto"/>
                <a:ea typeface="Roboto"/>
              </a:rPr>
              <a:t>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6" name="Google Shape;456;p6"/>
          <p:cNvSpPr/>
          <p:nvPr/>
        </p:nvSpPr>
        <p:spPr>
          <a:xfrm>
            <a:off x="4715280" y="1351440"/>
            <a:ext cx="1880640" cy="2590560"/>
          </a:xfrm>
          <a:prstGeom prst="rect">
            <a:avLst/>
          </a:pr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Google Shape;457;p6"/>
          <p:cNvSpPr/>
          <p:nvPr/>
        </p:nvSpPr>
        <p:spPr>
          <a:xfrm>
            <a:off x="4844520" y="162036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Google Shape;458;p6"/>
          <p:cNvSpPr/>
          <p:nvPr/>
        </p:nvSpPr>
        <p:spPr>
          <a:xfrm>
            <a:off x="5091840" y="1921680"/>
            <a:ext cx="1256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Google Shape;459;p6"/>
          <p:cNvSpPr/>
          <p:nvPr/>
        </p:nvSpPr>
        <p:spPr>
          <a:xfrm>
            <a:off x="4844520" y="211896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Google Shape;460;p6"/>
          <p:cNvSpPr/>
          <p:nvPr/>
        </p:nvSpPr>
        <p:spPr>
          <a:xfrm>
            <a:off x="4844520" y="229284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Google Shape;461;p6"/>
          <p:cNvSpPr/>
          <p:nvPr/>
        </p:nvSpPr>
        <p:spPr>
          <a:xfrm>
            <a:off x="4844520" y="244548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Google Shape;462;p6"/>
          <p:cNvSpPr/>
          <p:nvPr/>
        </p:nvSpPr>
        <p:spPr>
          <a:xfrm>
            <a:off x="5091840" y="2597760"/>
            <a:ext cx="1256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Google Shape;463;p6"/>
          <p:cNvSpPr/>
          <p:nvPr/>
        </p:nvSpPr>
        <p:spPr>
          <a:xfrm>
            <a:off x="4844520" y="279504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Google Shape;464;p6"/>
          <p:cNvSpPr/>
          <p:nvPr/>
        </p:nvSpPr>
        <p:spPr>
          <a:xfrm>
            <a:off x="4844520" y="296892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Google Shape;465;p6"/>
          <p:cNvSpPr/>
          <p:nvPr/>
        </p:nvSpPr>
        <p:spPr>
          <a:xfrm>
            <a:off x="4844520" y="312120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Google Shape;466;p6"/>
          <p:cNvSpPr/>
          <p:nvPr/>
        </p:nvSpPr>
        <p:spPr>
          <a:xfrm>
            <a:off x="5091840" y="3273480"/>
            <a:ext cx="1256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Google Shape;467;p6"/>
          <p:cNvSpPr/>
          <p:nvPr/>
        </p:nvSpPr>
        <p:spPr>
          <a:xfrm>
            <a:off x="4844520" y="347076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Google Shape;468;p6"/>
          <p:cNvSpPr/>
          <p:nvPr/>
        </p:nvSpPr>
        <p:spPr>
          <a:xfrm>
            <a:off x="4844520" y="364464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Google Shape;469;p6"/>
          <p:cNvSpPr/>
          <p:nvPr/>
        </p:nvSpPr>
        <p:spPr>
          <a:xfrm>
            <a:off x="4844520" y="3797280"/>
            <a:ext cx="1504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43434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Google Shape;470;p6"/>
          <p:cNvSpPr/>
          <p:nvPr/>
        </p:nvSpPr>
        <p:spPr>
          <a:xfrm>
            <a:off x="6469200" y="1932480"/>
            <a:ext cx="739800" cy="503280"/>
          </a:xfrm>
          <a:custGeom>
            <a:avLst/>
            <a:gdLst/>
            <a:ahLst/>
            <a:rect l="l" t="t" r="r" b="b"/>
            <a:pathLst>
              <a:path w="24533" h="20230">
                <a:moveTo>
                  <a:pt x="430" y="0"/>
                </a:moveTo>
                <a:lnTo>
                  <a:pt x="24533" y="8178"/>
                </a:lnTo>
                <a:lnTo>
                  <a:pt x="0" y="20230"/>
                </a:lnTo>
              </a:path>
            </a:pathLst>
          </a:custGeom>
          <a:noFill/>
          <a:ln w="2857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Google Shape;471;p6"/>
          <p:cNvSpPr/>
          <p:nvPr/>
        </p:nvSpPr>
        <p:spPr>
          <a:xfrm>
            <a:off x="7329960" y="1787040"/>
            <a:ext cx="1342800" cy="50328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noFill/>
          <a:ln w="9525">
            <a:solidFill>
              <a:srgbClr val="43434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Google Shape;472;p6"/>
          <p:cNvSpPr/>
          <p:nvPr/>
        </p:nvSpPr>
        <p:spPr>
          <a:xfrm>
            <a:off x="6469200" y="2630520"/>
            <a:ext cx="739800" cy="503280"/>
          </a:xfrm>
          <a:custGeom>
            <a:avLst/>
            <a:gdLst/>
            <a:ahLst/>
            <a:rect l="l" t="t" r="r" b="b"/>
            <a:pathLst>
              <a:path w="24533" h="20230">
                <a:moveTo>
                  <a:pt x="430" y="0"/>
                </a:moveTo>
                <a:lnTo>
                  <a:pt x="24533" y="8178"/>
                </a:lnTo>
                <a:lnTo>
                  <a:pt x="0" y="20230"/>
                </a:lnTo>
              </a:path>
            </a:pathLst>
          </a:custGeom>
          <a:noFill/>
          <a:ln w="2857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Google Shape;473;p6"/>
          <p:cNvSpPr/>
          <p:nvPr/>
        </p:nvSpPr>
        <p:spPr>
          <a:xfrm>
            <a:off x="7329960" y="2587680"/>
            <a:ext cx="1342800" cy="50328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noFill/>
          <a:ln w="9525">
            <a:solidFill>
              <a:srgbClr val="43434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Google Shape;474;p6"/>
          <p:cNvSpPr/>
          <p:nvPr/>
        </p:nvSpPr>
        <p:spPr>
          <a:xfrm>
            <a:off x="6469200" y="3328560"/>
            <a:ext cx="739800" cy="503280"/>
          </a:xfrm>
          <a:custGeom>
            <a:avLst/>
            <a:gdLst/>
            <a:ahLst/>
            <a:rect l="l" t="t" r="r" b="b"/>
            <a:pathLst>
              <a:path w="24533" h="20230">
                <a:moveTo>
                  <a:pt x="430" y="0"/>
                </a:moveTo>
                <a:lnTo>
                  <a:pt x="24533" y="8178"/>
                </a:lnTo>
                <a:lnTo>
                  <a:pt x="0" y="20230"/>
                </a:lnTo>
              </a:path>
            </a:pathLst>
          </a:custGeom>
          <a:noFill/>
          <a:ln w="28575">
            <a:solidFill>
              <a:srgbClr val="9c25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Google Shape;475;p6"/>
          <p:cNvSpPr/>
          <p:nvPr/>
        </p:nvSpPr>
        <p:spPr>
          <a:xfrm>
            <a:off x="7329960" y="3210840"/>
            <a:ext cx="1342800" cy="503280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noFill/>
          <a:ln w="9525">
            <a:solidFill>
              <a:srgbClr val="43434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265680" y="1151280"/>
            <a:ext cx="4042800" cy="156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200" spc="-1" strike="noStrike">
                <a:solidFill>
                  <a:srgbClr val="2a3990"/>
                </a:solidFill>
                <a:latin typeface="Roboto"/>
                <a:ea typeface="Roboto"/>
              </a:rPr>
              <a:t>Using Graphic Organizers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subTitle"/>
          </p:nvPr>
        </p:nvSpPr>
        <p:spPr>
          <a:xfrm>
            <a:off x="265680" y="2769120"/>
            <a:ext cx="4042800" cy="1266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434343"/>
                </a:solidFill>
                <a:latin typeface="Roboto"/>
                <a:ea typeface="Roboto"/>
              </a:rPr>
              <a:t>Visual Strategies for Outlining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278" name="Google Shape;482;p7"/>
          <p:cNvSpPr/>
          <p:nvPr/>
        </p:nvSpPr>
        <p:spPr>
          <a:xfrm>
            <a:off x="5199480" y="1028880"/>
            <a:ext cx="3225600" cy="309600"/>
          </a:xfrm>
          <a:prstGeom prst="rect">
            <a:avLst/>
          </a:prstGeom>
          <a:noFill/>
          <a:ln w="38100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0320" bIns="3103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7890cd"/>
                </a:solidFill>
                <a:latin typeface="Arial"/>
                <a:ea typeface="Arial"/>
              </a:rPr>
              <a:t>1.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79" name="Google Shape;483;p7"/>
          <p:cNvSpPr/>
          <p:nvPr/>
        </p:nvSpPr>
        <p:spPr>
          <a:xfrm>
            <a:off x="5586840" y="1536120"/>
            <a:ext cx="2838240" cy="309600"/>
          </a:xfrm>
          <a:prstGeom prst="rect">
            <a:avLst/>
          </a:prstGeom>
          <a:noFill/>
          <a:ln w="38100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0320" bIns="3103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7890cd"/>
                </a:solidFill>
                <a:latin typeface="Arial"/>
                <a:ea typeface="Arial"/>
              </a:rPr>
              <a:t>a)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80" name="Google Shape;484;p7"/>
          <p:cNvSpPr/>
          <p:nvPr/>
        </p:nvSpPr>
        <p:spPr>
          <a:xfrm>
            <a:off x="5586840" y="2043720"/>
            <a:ext cx="2838240" cy="309600"/>
          </a:xfrm>
          <a:prstGeom prst="rect">
            <a:avLst/>
          </a:prstGeom>
          <a:noFill/>
          <a:ln w="38100">
            <a:solidFill>
              <a:srgbClr val="7890c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10320" bIns="31032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7890cd"/>
                </a:solidFill>
                <a:latin typeface="Arial"/>
                <a:ea typeface="Arial"/>
              </a:rPr>
              <a:t>b)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81" name="Google Shape;485;p7"/>
          <p:cNvSpPr/>
          <p:nvPr/>
        </p:nvSpPr>
        <p:spPr>
          <a:xfrm>
            <a:off x="5145480" y="2769120"/>
            <a:ext cx="2149560" cy="1625400"/>
          </a:xfrm>
          <a:prstGeom prst="ellipse">
            <a:avLst/>
          </a:prstGeom>
          <a:noFill/>
          <a:ln w="38100">
            <a:solidFill>
              <a:srgbClr val="f0629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Google Shape;486;p7"/>
          <p:cNvSpPr/>
          <p:nvPr/>
        </p:nvSpPr>
        <p:spPr>
          <a:xfrm>
            <a:off x="6404760" y="2768760"/>
            <a:ext cx="2020320" cy="1625400"/>
          </a:xfrm>
          <a:prstGeom prst="ellipse">
            <a:avLst/>
          </a:prstGeom>
          <a:noFill/>
          <a:ln w="38100">
            <a:solidFill>
              <a:srgbClr val="f06292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2634480" y="100080"/>
            <a:ext cx="6507000" cy="85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Sequence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3884040" y="1200240"/>
            <a:ext cx="4799880" cy="3170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Order events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Timeline of events 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Steps in a process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"/>
                <a:ea typeface="Roboto"/>
              </a:rPr>
              <a:t>Relationship between cause &amp; effect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285" name="Google Shape;493;p8" descr=""/>
          <p:cNvPicPr/>
          <p:nvPr/>
        </p:nvPicPr>
        <p:blipFill>
          <a:blip r:embed="rId1"/>
          <a:stretch/>
        </p:blipFill>
        <p:spPr>
          <a:xfrm>
            <a:off x="553320" y="308520"/>
            <a:ext cx="3328560" cy="4256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708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Story Map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1365480" y="2290320"/>
            <a:ext cx="3128040" cy="230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/>
          </p:nvPr>
        </p:nvSpPr>
        <p:spPr>
          <a:xfrm>
            <a:off x="4648320" y="1200240"/>
            <a:ext cx="4035960" cy="339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4064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Helps students identify &amp; examine different parts of the reading</a:t>
            </a:r>
            <a:endParaRPr b="0" lang="en-US" sz="2800" spc="-1" strike="noStrike">
              <a:latin typeface="Arial"/>
            </a:endParaRPr>
          </a:p>
          <a:p>
            <a:pPr marL="457200" indent="-4064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Non-fiction and fiction</a:t>
            </a:r>
            <a:endParaRPr b="0" lang="en-US" sz="2800" spc="-1" strike="noStrike">
              <a:latin typeface="Arial"/>
            </a:endParaRPr>
          </a:p>
          <a:p>
            <a:pPr marL="457200" indent="-4064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2800" spc="-1" strike="noStrike">
                <a:solidFill>
                  <a:srgbClr val="000000"/>
                </a:solidFill>
                <a:latin typeface="Roboto Light"/>
                <a:ea typeface="Roboto Light"/>
              </a:rPr>
              <a:t>Learn to summarize the reading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289" name="Google Shape;501;p9" descr=""/>
          <p:cNvPicPr/>
          <p:nvPr/>
        </p:nvPicPr>
        <p:blipFill>
          <a:blip r:embed="rId1"/>
          <a:stretch/>
        </p:blipFill>
        <p:spPr>
          <a:xfrm>
            <a:off x="386640" y="1200240"/>
            <a:ext cx="4035960" cy="311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7080" cy="85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rgbClr val="000000"/>
                </a:solidFill>
                <a:latin typeface="Roboto"/>
                <a:ea typeface="Roboto"/>
              </a:rPr>
              <a:t>Compare &amp; Contrast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4672080" cy="339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How are they alike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How are they different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000000"/>
              </a:buClr>
              <a:buFont typeface="Roboto Light"/>
              <a:buChar char="•"/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Where circles overlap, </a:t>
            </a:r>
            <a:endParaRPr b="0" lang="en-US" sz="3200" spc="-1" strike="noStrike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similarities</a:t>
            </a:r>
            <a:endParaRPr b="0" lang="en-US" sz="3200" spc="-1" strike="noStrike">
              <a:latin typeface="Arial"/>
            </a:endParaRPr>
          </a:p>
          <a:p>
            <a:pPr marL="457200" indent="-4316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Roboto Light"/>
              <a:buChar char="•"/>
              <a:tabLst>
                <a:tab algn="l" pos="0"/>
              </a:tabLst>
            </a:pPr>
            <a:r>
              <a:rPr b="0" lang="en" sz="3200" spc="-1" strike="noStrike">
                <a:solidFill>
                  <a:srgbClr val="000000"/>
                </a:solidFill>
                <a:latin typeface="Roboto Light"/>
                <a:ea typeface="Roboto Light"/>
              </a:rPr>
              <a:t>Venn Diagram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292" name="Google Shape;508;p10" descr=""/>
          <p:cNvPicPr/>
          <p:nvPr/>
        </p:nvPicPr>
        <p:blipFill>
          <a:blip r:embed="rId1"/>
          <a:stretch/>
        </p:blipFill>
        <p:spPr>
          <a:xfrm>
            <a:off x="4752720" y="953280"/>
            <a:ext cx="4388760" cy="3391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Vanessa</dc:creator>
  <dc:description/>
  <dc:language>en-HK</dc:language>
  <cp:lastModifiedBy/>
  <dcterms:modified xsi:type="dcterms:W3CDTF">2026-09-09T02:57:08Z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全屏显示(16:9)</vt:lpwstr>
  </property>
  <property fmtid="{D5CDD505-2E9C-101B-9397-08002B2CF9AE}" pid="4" name="Slides">
    <vt:i4>10</vt:i4>
  </property>
</Properties>
</file>