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D973B00-C174-4776-B2C2-36401EAEB06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Easy to have students make their own: draw one larger circle in the middle, then lines to connecting ideas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can do this as we go through the presentation; main idea = graphic organizers, related concepts are the various types of graphic organizers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Tip to focus information, try to  develop your topic sentences for each paragraph as a part of the outline instead of just a bulleted word/topic.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*Exact content depends on the journal you’ve selected, i.e. OS vs discipline-specific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the sequence information to their concept map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One example: pictures for lower levels, area to write for higher levels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story map information to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Discuss various parts of the story: character, setting, plot, conflict, resolution, falling action/end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Pictures or words can be used by students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this information to their concept map graphic organizer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20E8774-024D-48A6-BFA2-5B751446376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B5A1E46-96FF-4E32-B2D7-70844E9F608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C9B0A99-51C6-4733-8E5A-52C04CF3429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E469E9-4B8D-4C15-B721-574B91DE645A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AA33742-A863-4FE6-8972-815190BC7DB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1D63111-59C7-44DF-BC53-459DA7C6A755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8D21B9F-7725-493D-A39F-7811C00159A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9C571E2-0B5D-4561-AE50-7DD76DC451F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78E66AB-F765-40F9-9981-6F2F9EE3EE9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E34BA28-63E2-4DE5-A159-984C72D8E08D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462F9C5-8517-457F-AF59-B1D704452111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ED516F9-0282-4310-AFE0-BF5AD3EE7E26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0C996D-CD62-414D-A7E6-D2784B2571B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4E28E2-E654-4A0F-A0EC-5A8662DC3AF5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663639-1244-4F98-A37C-7F0D6D064836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FC6B88-3F41-410A-A32B-FAED55609393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7C952D-4EF8-4630-959E-12389A42E58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2F914A-E3D6-4208-89F6-071908951E58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718C3B-925D-4D1C-9FF7-906D26B6112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478E4F-2EE4-4C29-81C9-C1BC1E1A51F1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5DF06B-A9F9-47F3-A7E4-CA5CB34468C8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80DF07-0E6B-4542-987A-95C348AB6B4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2B06D1-BE23-46D4-AAF8-B44B0011A9A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8768F1-203A-4A78-8B60-1A11D20E7CCE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D74087F-18EE-4C83-890B-A08E51FB77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529746A-71E0-4076-ABB5-D9A6453434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C78F067-FAC5-464B-A588-B9D94B7F9C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4518227-406E-47F2-BEC7-1FE483BA63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A7C3CBF-C9B7-438A-900E-E1C816BC37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0B54238-D2C5-4F1B-AC11-49A801CE09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99D67E2-9051-4BA5-AFE5-33D00B0402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2333706-BE52-4764-AFCC-B37A050D7A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19B4CCA-8DD9-4ABF-8699-07433982F4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50BDA9-AC5A-4B31-ADD6-52D6B397F5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DBB6F1A-C4CC-4E1C-8087-7824D7532B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B55DE11-7463-4C96-AE74-9F8021F916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281EF7-34EB-4F42-A23C-15B0CDFA0A43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F6EF5F-EE98-47F5-8C16-E575F9FD1F0B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0564D3-53D5-4203-93B3-203A829DC01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9FC41A-DA57-4A51-85A7-5752967AE56C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A00210-5309-4641-888E-12E48190FD8F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9F1809-8905-4541-A8E9-8431EB077D7D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B031D4-3A1A-4198-AB86-A2C47C801865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8EF8C1-6DA2-4EB7-AE58-A5B8DC59A5D1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1E8BCF-BD65-4317-8DC4-163A9754F527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D3A0FE-C802-46AC-ABF4-83F1F8628316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89DBD9-7017-490D-9823-AAAC0AE8600A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A96ED1-CD84-4C16-96FC-C849446BB88D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A50411B-ACCA-4202-BA6D-01CB924445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97E9E97-C29D-473B-B988-34C9DF8765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29CF08D-E9D0-4966-A80E-82F3ABF265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CB3751-1362-4EF1-B066-1C8DD12193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7D28209-314B-467B-AF36-464BDB3159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65BA66-EB97-4B1F-B158-1590B7A757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99436A5-016D-41AB-B2A1-7FD04B7910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2BC14A8-7DE9-4B47-9D39-56EFC60C9F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E793F90-6FA2-4B8F-B2F5-3CDA67012C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096CB8-48A2-400F-84F4-2087F4CADB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357C394-8C6C-446A-B174-C522ACF261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3E176ED-B42C-44E6-B11E-998C422AED2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11"/>
          <p:cNvGrpSpPr/>
          <p:nvPr/>
        </p:nvGrpSpPr>
        <p:grpSpPr>
          <a:xfrm>
            <a:off x="6100920" y="0"/>
            <a:ext cx="3043080" cy="2030400"/>
            <a:chOff x="6100920" y="0"/>
            <a:chExt cx="3043080" cy="2030400"/>
          </a:xfrm>
        </p:grpSpPr>
        <p:sp>
          <p:nvSpPr>
            <p:cNvPr id="1" name="Google Shape;11;p11"/>
            <p:cNvSpPr/>
            <p:nvPr/>
          </p:nvSpPr>
          <p:spPr>
            <a:xfrm>
              <a:off x="8128800" y="0"/>
              <a:ext cx="1012680" cy="1012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2;p11"/>
            <p:cNvSpPr/>
            <p:nvPr/>
          </p:nvSpPr>
          <p:spPr>
            <a:xfrm flipH="1">
              <a:off x="7110720" y="0"/>
              <a:ext cx="1012680" cy="1012680"/>
            </a:xfrm>
            <a:prstGeom prst="rtTriangl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13;p11"/>
            <p:cNvSpPr/>
            <p:nvPr/>
          </p:nvSpPr>
          <p:spPr>
            <a:xfrm flipH="1" rot="10800000">
              <a:off x="7113240" y="25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4;p11"/>
            <p:cNvSpPr/>
            <p:nvPr/>
          </p:nvSpPr>
          <p:spPr>
            <a:xfrm rot="10800000">
              <a:off x="6100920" y="2520"/>
              <a:ext cx="1012680" cy="101268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Google Shape;15;p11"/>
            <p:cNvSpPr/>
            <p:nvPr/>
          </p:nvSpPr>
          <p:spPr>
            <a:xfrm rot="10800000">
              <a:off x="8131320" y="10177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99E5E31-C593-40A9-A915-A5075A711440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0;p13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1;p13"/>
          <p:cNvSpPr/>
          <p:nvPr/>
        </p:nvSpPr>
        <p:spPr>
          <a:xfrm>
            <a:off x="5029560" y="4495680"/>
            <a:ext cx="465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sldNum" idx="2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EC0BF99-8F5A-4539-83D4-382114143F05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46;p15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7;p15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3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AA28CB0-805A-4DBB-A479-18E50BFE60DB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38;p17"/>
          <p:cNvGrpSpPr/>
          <p:nvPr/>
        </p:nvGrpSpPr>
        <p:grpSpPr>
          <a:xfrm>
            <a:off x="0" y="3903840"/>
            <a:ext cx="9144000" cy="1237320"/>
            <a:chOff x="0" y="3903840"/>
            <a:chExt cx="9144000" cy="1237320"/>
          </a:xfrm>
        </p:grpSpPr>
        <p:sp>
          <p:nvSpPr>
            <p:cNvPr id="130" name="Google Shape;239;p17"/>
            <p:cNvSpPr/>
            <p:nvPr/>
          </p:nvSpPr>
          <p:spPr>
            <a:xfrm>
              <a:off x="81547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240;p17"/>
            <p:cNvSpPr/>
            <p:nvPr/>
          </p:nvSpPr>
          <p:spPr>
            <a:xfrm flipH="1">
              <a:off x="61783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241;p17"/>
            <p:cNvSpPr/>
            <p:nvPr/>
          </p:nvSpPr>
          <p:spPr>
            <a:xfrm>
              <a:off x="7170120" y="3903840"/>
              <a:ext cx="986760" cy="9853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242;p17"/>
            <p:cNvSpPr/>
            <p:nvPr/>
          </p:nvSpPr>
          <p:spPr>
            <a:xfrm rot="10800000">
              <a:off x="8157240" y="3906360"/>
              <a:ext cx="986760" cy="985320"/>
            </a:xfrm>
            <a:prstGeom prst="rtTriangl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243;p17"/>
            <p:cNvSpPr/>
            <p:nvPr/>
          </p:nvSpPr>
          <p:spPr>
            <a:xfrm>
              <a:off x="0" y="4891680"/>
              <a:ext cx="9141480" cy="2494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PlaceHolder 1"/>
          <p:cNvSpPr>
            <a:spLocks noGrp="1"/>
          </p:cNvSpPr>
          <p:nvPr>
            <p:ph type="sldNum" idx="6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3110D1C-D58D-4419-9DD1-E4B87ABD8830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308;p19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309;p19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7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8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D4A7A227-191A-4C58-B303-1C8D7ECAAA98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dt" idx="9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97960" y="1775160"/>
            <a:ext cx="821952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ffffff"/>
                </a:solidFill>
                <a:latin typeface="Roboto"/>
                <a:ea typeface="Roboto"/>
              </a:rPr>
              <a:t>How to Write an Outline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597960" y="2715840"/>
            <a:ext cx="821952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ffffff"/>
                </a:solidFill>
                <a:latin typeface="Roboto"/>
                <a:ea typeface="Roboto"/>
              </a:rPr>
              <a:t>URI Graduate Writing Center, Spring 2021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226" name="Google Shape;406;p1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25840" y="2481480"/>
            <a:ext cx="1449720" cy="2321640"/>
          </a:xfrm>
          <a:prstGeom prst="rect">
            <a:avLst/>
          </a:prstGeom>
          <a:ln w="0">
            <a:noFill/>
          </a:ln>
        </p:spPr>
      </p:pic>
      <p:sp>
        <p:nvSpPr>
          <p:cNvPr id="227" name="Google Shape;407;p1"/>
          <p:cNvSpPr/>
          <p:nvPr/>
        </p:nvSpPr>
        <p:spPr>
          <a:xfrm>
            <a:off x="357120" y="1448280"/>
            <a:ext cx="6238800" cy="2031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Google Shape;408;p1"/>
          <p:cNvSpPr/>
          <p:nvPr/>
        </p:nvSpPr>
        <p:spPr>
          <a:xfrm flipH="1">
            <a:off x="6595920" y="2579760"/>
            <a:ext cx="1440" cy="35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2a39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Google Shape;409;p1"/>
          <p:cNvSpPr/>
          <p:nvPr/>
        </p:nvSpPr>
        <p:spPr>
          <a:xfrm>
            <a:off x="6598080" y="2571840"/>
            <a:ext cx="698760" cy="519120"/>
          </a:xfrm>
          <a:custGeom>
            <a:avLst/>
            <a:gdLst/>
            <a:ahLst/>
            <a:rect l="l" t="t" r="r" b="b"/>
            <a:pathLst>
              <a:path w="27977" h="21952">
                <a:moveTo>
                  <a:pt x="431" y="0"/>
                </a:moveTo>
                <a:lnTo>
                  <a:pt x="27977" y="21952"/>
                </a:lnTo>
                <a:lnTo>
                  <a:pt x="0" y="15495"/>
                </a:lnTo>
              </a:path>
            </a:pathLst>
          </a:cu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65680" y="1576080"/>
            <a:ext cx="4042800" cy="198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Why should you prepare an outline?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31" name="Google Shape;415;p2"/>
          <p:cNvSpPr/>
          <p:nvPr/>
        </p:nvSpPr>
        <p:spPr>
          <a:xfrm>
            <a:off x="6133320" y="2082600"/>
            <a:ext cx="1320840" cy="1318320"/>
          </a:xfrm>
          <a:prstGeom prst="ellipse">
            <a:avLst/>
          </a:prstGeom>
          <a:solidFill>
            <a:srgbClr val="f4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rgbClr val="9c254d"/>
                </a:solidFill>
                <a:latin typeface="Arial"/>
                <a:ea typeface="Arial"/>
              </a:rPr>
              <a:t>?</a:t>
            </a:r>
            <a:endParaRPr b="0" lang="en-US" sz="3000" spc="-1" strike="noStrike">
              <a:latin typeface="Arial"/>
            </a:endParaRPr>
          </a:p>
        </p:txBody>
      </p:sp>
      <p:grpSp>
        <p:nvGrpSpPr>
          <p:cNvPr id="232" name="Google Shape;416;p2"/>
          <p:cNvGrpSpPr/>
          <p:nvPr/>
        </p:nvGrpSpPr>
        <p:grpSpPr>
          <a:xfrm>
            <a:off x="6416640" y="1719360"/>
            <a:ext cx="2954880" cy="3294720"/>
            <a:chOff x="6416640" y="1719360"/>
            <a:chExt cx="2954880" cy="3294720"/>
          </a:xfrm>
        </p:grpSpPr>
        <p:sp>
          <p:nvSpPr>
            <p:cNvPr id="233" name="Google Shape;417;p2"/>
            <p:cNvSpPr/>
            <p:nvPr/>
          </p:nvSpPr>
          <p:spPr>
            <a:xfrm rot="18319800">
              <a:off x="6367320" y="2761920"/>
              <a:ext cx="3181680" cy="1209240"/>
            </a:xfrm>
            <a:custGeom>
              <a:avLst/>
              <a:gdLst/>
              <a:ahLst/>
              <a:rect l="l" t="t" r="r" b="b"/>
              <a:pathLst>
                <a:path w="492" h="187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418;p2"/>
            <p:cNvSpPr/>
            <p:nvPr/>
          </p:nvSpPr>
          <p:spPr>
            <a:xfrm rot="18319800">
              <a:off x="6332040" y="2658600"/>
              <a:ext cx="2727000" cy="1202760"/>
            </a:xfrm>
            <a:custGeom>
              <a:avLst/>
              <a:gdLst/>
              <a:ahLst/>
              <a:rect l="l" t="t" r="r" b="b"/>
              <a:pathLst>
                <a:path w="440" h="194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e1165a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Google Shape;419;p2"/>
            <p:cNvSpPr/>
            <p:nvPr/>
          </p:nvSpPr>
          <p:spPr>
            <a:xfrm rot="17820600">
              <a:off x="6964200" y="3062160"/>
              <a:ext cx="1575360" cy="56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Follow Genre Structure</a:t>
              </a:r>
              <a:r>
                <a:rPr b="0" lang="en" sz="10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 </a:t>
              </a:r>
              <a:endParaRPr b="0" lang="en-US" sz="1000" spc="-1" strike="noStrike">
                <a:latin typeface="Arial"/>
              </a:endParaRPr>
            </a:p>
          </p:txBody>
        </p:sp>
      </p:grpSp>
      <p:grpSp>
        <p:nvGrpSpPr>
          <p:cNvPr id="236" name="Google Shape;420;p2"/>
          <p:cNvGrpSpPr/>
          <p:nvPr/>
        </p:nvGrpSpPr>
        <p:grpSpPr>
          <a:xfrm>
            <a:off x="5089320" y="127440"/>
            <a:ext cx="3290040" cy="3219480"/>
            <a:chOff x="5089320" y="127440"/>
            <a:chExt cx="3290040" cy="3219480"/>
          </a:xfrm>
        </p:grpSpPr>
        <p:sp>
          <p:nvSpPr>
            <p:cNvPr id="237" name="Google Shape;421;p2"/>
            <p:cNvSpPr/>
            <p:nvPr/>
          </p:nvSpPr>
          <p:spPr>
            <a:xfrm rot="18319800">
              <a:off x="5641200" y="495360"/>
              <a:ext cx="2185920" cy="2483280"/>
            </a:xfrm>
            <a:custGeom>
              <a:avLst/>
              <a:gdLst/>
              <a:ahLst/>
              <a:rect l="l" t="t" r="r" b="b"/>
              <a:pathLst>
                <a:path w="338" h="384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Google Shape;422;p2"/>
            <p:cNvSpPr/>
            <p:nvPr/>
          </p:nvSpPr>
          <p:spPr>
            <a:xfrm rot="18319800">
              <a:off x="5898960" y="779400"/>
              <a:ext cx="1787760" cy="2183400"/>
            </a:xfrm>
            <a:custGeom>
              <a:avLst/>
              <a:gdLst/>
              <a:ahLst/>
              <a:rect l="l" t="t" r="r" b="b"/>
              <a:pathLst>
                <a:path w="288" h="352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b61249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23;p2"/>
            <p:cNvSpPr/>
            <p:nvPr/>
          </p:nvSpPr>
          <p:spPr>
            <a:xfrm>
              <a:off x="6015600" y="1351440"/>
              <a:ext cx="1575360" cy="56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Organize Your Ideas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240" name="Google Shape;424;p2"/>
          <p:cNvGrpSpPr/>
          <p:nvPr/>
        </p:nvGrpSpPr>
        <p:grpSpPr>
          <a:xfrm>
            <a:off x="4191120" y="1884240"/>
            <a:ext cx="3421080" cy="3117960"/>
            <a:chOff x="4191120" y="1884240"/>
            <a:chExt cx="3421080" cy="3117960"/>
          </a:xfrm>
        </p:grpSpPr>
        <p:sp>
          <p:nvSpPr>
            <p:cNvPr id="241" name="Google Shape;425;p2"/>
            <p:cNvSpPr/>
            <p:nvPr/>
          </p:nvSpPr>
          <p:spPr>
            <a:xfrm rot="18319800">
              <a:off x="5090040" y="1938960"/>
              <a:ext cx="1622520" cy="3043080"/>
            </a:xfrm>
            <a:custGeom>
              <a:avLst/>
              <a:gdLst/>
              <a:ahLst/>
              <a:rect l="l" t="t" r="r" b="b"/>
              <a:pathLst>
                <a:path w="251" h="47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26;p2"/>
            <p:cNvSpPr/>
            <p:nvPr/>
          </p:nvSpPr>
          <p:spPr>
            <a:xfrm rot="18319800">
              <a:off x="5267880" y="1988280"/>
              <a:ext cx="1573200" cy="2548080"/>
            </a:xfrm>
            <a:custGeom>
              <a:avLst/>
              <a:gdLst/>
              <a:ahLst/>
              <a:rect l="l" t="t" r="r" b="b"/>
              <a:pathLst>
                <a:path w="254" h="411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840d35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427;p2"/>
            <p:cNvSpPr/>
            <p:nvPr/>
          </p:nvSpPr>
          <p:spPr>
            <a:xfrm flipH="1" rot="3725400">
              <a:off x="5095080" y="3061800"/>
              <a:ext cx="1575000" cy="5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Accountability 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518976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Concept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8396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Main idea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Sub topics</a:t>
            </a:r>
            <a:endParaRPr b="0" lang="en-US" sz="32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first point of sub topics</a:t>
            </a:r>
            <a:endParaRPr b="0" lang="en-US" sz="28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second point of sub topics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continuation of the sub topics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246" name="Google Shape;434;p3" descr=""/>
          <p:cNvPicPr/>
          <p:nvPr/>
        </p:nvPicPr>
        <p:blipFill>
          <a:blip r:embed="rId1"/>
          <a:stretch/>
        </p:blipFill>
        <p:spPr>
          <a:xfrm>
            <a:off x="5437800" y="115200"/>
            <a:ext cx="3025800" cy="42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1218960"/>
            <a:ext cx="851796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Interesting opening “hook”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Background info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Thesis statement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Body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1st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2nd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Conclusion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Reiterate thesis statement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Summarize supporting arguments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249" name="Google Shape;441;p4"/>
          <p:cNvSpPr/>
          <p:nvPr/>
        </p:nvSpPr>
        <p:spPr>
          <a:xfrm flipH="1">
            <a:off x="4723200" y="410040"/>
            <a:ext cx="3311640" cy="157392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952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9c254d"/>
                </a:solidFill>
                <a:latin typeface="Roboto"/>
                <a:ea typeface="Roboto"/>
              </a:rPr>
              <a:t>You don’t have to draft the paper in this same order! Try writing the body, then intro, then conclusion.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0" name="Google Shape;442;p4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15040" y="1641960"/>
            <a:ext cx="1449720" cy="232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11760" y="14760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 IMRAD formatted manuscripts*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11760" y="755280"/>
            <a:ext cx="5330520" cy="4159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8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Set the context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Credible background information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Previous research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Define the knowledge gap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Outline your objectives, hypotheses, or research questions</a:t>
            </a:r>
            <a:endParaRPr b="0" lang="en-US" sz="13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Methods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site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population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Research steps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Results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Follow the same layout as the methods section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Discussion/Conclusion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link back to introduction, come full circle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How did this research fill a knowledge gap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3" name="Google Shape;449;p5" descr=""/>
          <p:cNvPicPr/>
          <p:nvPr/>
        </p:nvPicPr>
        <p:blipFill>
          <a:blip r:embed="rId1"/>
          <a:stretch/>
        </p:blipFill>
        <p:spPr>
          <a:xfrm>
            <a:off x="4635720" y="755280"/>
            <a:ext cx="4194000" cy="30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2a3990"/>
                </a:solidFill>
                <a:latin typeface="Roboto"/>
                <a:ea typeface="Roboto"/>
              </a:rPr>
              <a:t>Reverse Outlines: Produce an outline from a draft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11760" y="1229760"/>
            <a:ext cx="425772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Ideas evolve as you write, so sometimes a reverse outline may better suit your needs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If you write to think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Checks your organization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Identify main points to easily move sections around in your draft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You can do both! 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Compare your reverse outline to your original outline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Google Shape;456;p6"/>
          <p:cNvSpPr/>
          <p:nvPr/>
        </p:nvSpPr>
        <p:spPr>
          <a:xfrm>
            <a:off x="4715280" y="1351440"/>
            <a:ext cx="1880640" cy="2590560"/>
          </a:xfrm>
          <a:prstGeom prst="rect">
            <a:avLst/>
          </a:pr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Google Shape;457;p6"/>
          <p:cNvSpPr/>
          <p:nvPr/>
        </p:nvSpPr>
        <p:spPr>
          <a:xfrm>
            <a:off x="4844520" y="16203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458;p6"/>
          <p:cNvSpPr/>
          <p:nvPr/>
        </p:nvSpPr>
        <p:spPr>
          <a:xfrm>
            <a:off x="5091840" y="19216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Google Shape;459;p6"/>
          <p:cNvSpPr/>
          <p:nvPr/>
        </p:nvSpPr>
        <p:spPr>
          <a:xfrm>
            <a:off x="4844520" y="21189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Google Shape;460;p6"/>
          <p:cNvSpPr/>
          <p:nvPr/>
        </p:nvSpPr>
        <p:spPr>
          <a:xfrm>
            <a:off x="4844520" y="22928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Google Shape;461;p6"/>
          <p:cNvSpPr/>
          <p:nvPr/>
        </p:nvSpPr>
        <p:spPr>
          <a:xfrm>
            <a:off x="4844520" y="24454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Google Shape;462;p6"/>
          <p:cNvSpPr/>
          <p:nvPr/>
        </p:nvSpPr>
        <p:spPr>
          <a:xfrm>
            <a:off x="5091840" y="259776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Google Shape;463;p6"/>
          <p:cNvSpPr/>
          <p:nvPr/>
        </p:nvSpPr>
        <p:spPr>
          <a:xfrm>
            <a:off x="4844520" y="27950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Google Shape;464;p6"/>
          <p:cNvSpPr/>
          <p:nvPr/>
        </p:nvSpPr>
        <p:spPr>
          <a:xfrm>
            <a:off x="4844520" y="296892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465;p6"/>
          <p:cNvSpPr/>
          <p:nvPr/>
        </p:nvSpPr>
        <p:spPr>
          <a:xfrm>
            <a:off x="4844520" y="312120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Google Shape;466;p6"/>
          <p:cNvSpPr/>
          <p:nvPr/>
        </p:nvSpPr>
        <p:spPr>
          <a:xfrm>
            <a:off x="5091840" y="32734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Google Shape;467;p6"/>
          <p:cNvSpPr/>
          <p:nvPr/>
        </p:nvSpPr>
        <p:spPr>
          <a:xfrm>
            <a:off x="4844520" y="34707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Google Shape;468;p6"/>
          <p:cNvSpPr/>
          <p:nvPr/>
        </p:nvSpPr>
        <p:spPr>
          <a:xfrm>
            <a:off x="4844520" y="36446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Google Shape;469;p6"/>
          <p:cNvSpPr/>
          <p:nvPr/>
        </p:nvSpPr>
        <p:spPr>
          <a:xfrm>
            <a:off x="4844520" y="37972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Google Shape;470;p6"/>
          <p:cNvSpPr/>
          <p:nvPr/>
        </p:nvSpPr>
        <p:spPr>
          <a:xfrm>
            <a:off x="6469200" y="193248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Google Shape;471;p6"/>
          <p:cNvSpPr/>
          <p:nvPr/>
        </p:nvSpPr>
        <p:spPr>
          <a:xfrm>
            <a:off x="7329960" y="17870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Google Shape;472;p6"/>
          <p:cNvSpPr/>
          <p:nvPr/>
        </p:nvSpPr>
        <p:spPr>
          <a:xfrm>
            <a:off x="6469200" y="263052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Google Shape;473;p6"/>
          <p:cNvSpPr/>
          <p:nvPr/>
        </p:nvSpPr>
        <p:spPr>
          <a:xfrm>
            <a:off x="7329960" y="258768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Google Shape;474;p6"/>
          <p:cNvSpPr/>
          <p:nvPr/>
        </p:nvSpPr>
        <p:spPr>
          <a:xfrm>
            <a:off x="6469200" y="332856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Google Shape;475;p6"/>
          <p:cNvSpPr/>
          <p:nvPr/>
        </p:nvSpPr>
        <p:spPr>
          <a:xfrm>
            <a:off x="7329960" y="32108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5680" y="1151280"/>
            <a:ext cx="4042800" cy="156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Using Graphic Organizers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65680" y="2769120"/>
            <a:ext cx="4042800" cy="126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434343"/>
                </a:solidFill>
                <a:latin typeface="Roboto"/>
                <a:ea typeface="Roboto"/>
              </a:rPr>
              <a:t>Visual Strategies for Outlining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78" name="Google Shape;482;p7"/>
          <p:cNvSpPr/>
          <p:nvPr/>
        </p:nvSpPr>
        <p:spPr>
          <a:xfrm>
            <a:off x="5199480" y="1028880"/>
            <a:ext cx="322560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1.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9" name="Google Shape;483;p7"/>
          <p:cNvSpPr/>
          <p:nvPr/>
        </p:nvSpPr>
        <p:spPr>
          <a:xfrm>
            <a:off x="5586840" y="15361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0" name="Google Shape;484;p7"/>
          <p:cNvSpPr/>
          <p:nvPr/>
        </p:nvSpPr>
        <p:spPr>
          <a:xfrm>
            <a:off x="5586840" y="20437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1" name="Google Shape;485;p7"/>
          <p:cNvSpPr/>
          <p:nvPr/>
        </p:nvSpPr>
        <p:spPr>
          <a:xfrm>
            <a:off x="5145480" y="2769120"/>
            <a:ext cx="214956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Google Shape;486;p7"/>
          <p:cNvSpPr/>
          <p:nvPr/>
        </p:nvSpPr>
        <p:spPr>
          <a:xfrm>
            <a:off x="6404760" y="2768760"/>
            <a:ext cx="202032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634480" y="100080"/>
            <a:ext cx="650700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Sequence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884040" y="1200240"/>
            <a:ext cx="4799880" cy="31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Order events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Timeline of events 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Steps in a process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Relationship between cause &amp; effect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85" name="Google Shape;493;p8" descr=""/>
          <p:cNvPicPr/>
          <p:nvPr/>
        </p:nvPicPr>
        <p:blipFill>
          <a:blip r:embed="rId1"/>
          <a:stretch/>
        </p:blipFill>
        <p:spPr>
          <a:xfrm>
            <a:off x="553320" y="308520"/>
            <a:ext cx="3328560" cy="425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Story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1365480" y="2290320"/>
            <a:ext cx="3128040" cy="23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4648320" y="1200240"/>
            <a:ext cx="4035960" cy="339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Helps students identify &amp; examine different parts of the reading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Non-fiction and fiction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Learn to summarize the reading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89" name="Google Shape;501;p9" descr=""/>
          <p:cNvPicPr/>
          <p:nvPr/>
        </p:nvPicPr>
        <p:blipFill>
          <a:blip r:embed="rId1"/>
          <a:stretch/>
        </p:blipFill>
        <p:spPr>
          <a:xfrm>
            <a:off x="386640" y="1200240"/>
            <a:ext cx="4035960" cy="311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Compare &amp; Contrast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7208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alike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different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Where circles overlap, </a:t>
            </a:r>
            <a:endParaRPr b="0" lang="en-US" sz="32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similarities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Roboto Light"/>
              <a:buChar char="•"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Venn Diagram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92" name="Google Shape;508;p10" descr=""/>
          <p:cNvPicPr/>
          <p:nvPr/>
        </p:nvPicPr>
        <p:blipFill>
          <a:blip r:embed="rId1"/>
          <a:stretch/>
        </p:blipFill>
        <p:spPr>
          <a:xfrm>
            <a:off x="4752720" y="953280"/>
            <a:ext cx="4388760" cy="339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Vanessa</dc:creator>
  <dc:description/>
  <dc:language>en-HK</dc:language>
  <cp:lastModifiedBy/>
  <dcterms:modified xsi:type="dcterms:W3CDTF">2026-09-09T02:55:32Z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全屏显示(16:9)</vt:lpwstr>
  </property>
  <property fmtid="{D5CDD505-2E9C-101B-9397-08002B2CF9AE}" pid="4" name="Slides">
    <vt:i4>10</vt:i4>
  </property>
</Properties>
</file>