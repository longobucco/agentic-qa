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5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53.xml.rels" ContentType="application/vnd.openxmlformats-package.relationships+xml"/>
  <Override PartName="/ppt/slideLayouts/slideLayout56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8.png" ContentType="image/png"/>
  <Override PartName="/ppt/media/image9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6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move the slide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21" name="PlaceHolder 4"/>
          <p:cNvSpPr>
            <a:spLocks noGrp="1"/>
          </p:cNvSpPr>
          <p:nvPr>
            <p:ph type="dt" idx="1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22" name="PlaceHolder 5"/>
          <p:cNvSpPr>
            <a:spLocks noGrp="1"/>
          </p:cNvSpPr>
          <p:nvPr>
            <p:ph type="ftr" idx="1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23" name="PlaceHolder 6"/>
          <p:cNvSpPr>
            <a:spLocks noGrp="1"/>
          </p:cNvSpPr>
          <p:nvPr>
            <p:ph type="sldNum" idx="1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F3EB9398-E909-4749-9507-C7C8D6991885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3360" cy="342648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3880" cy="41122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  <a:ea typeface="Arial"/>
              </a:rPr>
              <a:t>Easy to have students make their own: draw one larger circle in the middle, then lines to connecting ideas</a:t>
            </a:r>
            <a:endParaRPr b="0" lang="en-US" sz="11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  <a:ea typeface="Arial"/>
              </a:rPr>
              <a:t>Participants can do this as we go through the presentation; main idea = graphic organizers, related concepts are the various types of graphic organizers</a:t>
            </a:r>
            <a:endParaRPr b="0" lang="en-US" sz="1100" spc="-1" strike="noStrike"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3360" cy="3426480"/>
          </a:xfrm>
          <a:prstGeom prst="rect">
            <a:avLst/>
          </a:prstGeom>
          <a:ln w="0">
            <a:noFill/>
          </a:ln>
        </p:spPr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3880" cy="41122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  <a:ea typeface="Arial"/>
              </a:rPr>
              <a:t>Tip to focus information, try to  develop your topic sentences for each paragraph as a part of the outline instead of just a bulleted word/topic. </a:t>
            </a:r>
            <a:endParaRPr b="0" lang="en-US" sz="1100" spc="-1" strike="noStrike"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3360" cy="3426480"/>
          </a:xfrm>
          <a:prstGeom prst="rect">
            <a:avLst/>
          </a:prstGeom>
          <a:ln w="0">
            <a:noFill/>
          </a:ln>
        </p:spPr>
      </p:sp>
      <p:sp>
        <p:nvSpPr>
          <p:cNvPr id="29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3880" cy="41122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  <a:ea typeface="Arial"/>
              </a:rPr>
              <a:t>*Exact content depends on the journal you’ve selected, i.e. OS vs discipline-specific</a:t>
            </a:r>
            <a:endParaRPr b="0" lang="en-US" sz="1100" spc="-1" strike="noStrike"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3360" cy="342648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3880" cy="41122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  <a:ea typeface="Arial"/>
              </a:rPr>
              <a:t>Participants add the sequence information to their concept map graphic organizer</a:t>
            </a:r>
            <a:endParaRPr b="0" lang="en-US" sz="11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  <a:ea typeface="Arial"/>
              </a:rPr>
              <a:t>One example: pictures for lower levels, area to write for higher levels</a:t>
            </a:r>
            <a:endParaRPr b="0" lang="en-US" sz="11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pc="-1" strike="noStrike"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3360" cy="3426480"/>
          </a:xfrm>
          <a:prstGeom prst="rect">
            <a:avLst/>
          </a:prstGeom>
          <a:ln w="0">
            <a:noFill/>
          </a:ln>
        </p:spPr>
      </p:sp>
      <p:sp>
        <p:nvSpPr>
          <p:cNvPr id="30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3880" cy="41122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  <a:ea typeface="Arial"/>
              </a:rPr>
              <a:t>Participants add story map information to graphic organizer</a:t>
            </a:r>
            <a:endParaRPr b="0" lang="en-US" sz="11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  <a:ea typeface="Arial"/>
              </a:rPr>
              <a:t>Discuss various parts of the story: character, setting, plot, conflict, resolution, falling action/end</a:t>
            </a:r>
            <a:endParaRPr b="0" lang="en-US" sz="11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  <a:ea typeface="Arial"/>
              </a:rPr>
              <a:t>Pictures or words can be used by students</a:t>
            </a:r>
            <a:endParaRPr b="0" lang="en-US" sz="1100" spc="-1" strike="noStrike"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3360" cy="3426480"/>
          </a:xfrm>
          <a:prstGeom prst="rect">
            <a:avLst/>
          </a:prstGeom>
          <a:ln w="0">
            <a:noFill/>
          </a:ln>
        </p:spPr>
      </p:sp>
      <p:sp>
        <p:nvSpPr>
          <p:cNvPr id="30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3880" cy="41122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  <a:ea typeface="Arial"/>
              </a:rPr>
              <a:t>Participants add this information to their concept map graphic organizer</a:t>
            </a:r>
            <a:endParaRPr b="0" lang="en-US" sz="1100" spc="-1" strike="noStrike"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26901773-B664-4EBD-8EA4-82267BFF4E1A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9A741370-6B5C-49FA-9E82-ABA818957A9A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8635DA76-E1A1-4DD3-87A2-3DC1FFAC3D3B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9D046393-999D-47AC-8183-7CD5409962DB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3A9B505B-1236-494B-95BB-D67F653AB13C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630E9490-D9F1-4AB8-9667-379106DBBEA8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E7EBEBFA-0BAF-4997-9E97-7CA77E711105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E8FE8E72-593E-4995-8BEF-986B1E11E3E3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2C98D4A0-0AD3-415C-A86D-61D6EE36935E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86DEF1C4-8543-46AB-B186-253E3C9C25CF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3325CFC0-7A20-41E8-977A-89C4F3A87B03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38E3ADF4-D89B-48F6-8423-873F8F5CBE9F}" type="slidenum">
              <a:t>&lt;#&gt;</a:t>
            </a:fld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8B77835-C393-4190-A0AF-9A4662F3D490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2BA2BD0-183F-484E-B54C-1FA9C679C597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FDB5788-5EDD-4E3D-ABA2-CACE57936B30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83C5DBA-4DB5-48B1-853C-22143A231341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FBF9355-FC90-47F2-B3B2-16AF3195C0D6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2253C47-9A22-46D3-B966-766D1AB47103}" type="slidenum">
              <a:t>&lt;#&gt;</a:t>
            </a:fld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BDAF97F-B874-477D-A4E5-53F122DDF37C}" type="slidenum">
              <a:t>&lt;#&gt;</a:t>
            </a:fld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A581D17-F395-4E55-B96D-62A5BA94CB84}" type="slidenum">
              <a:t>&lt;#&gt;</a:t>
            </a:fld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5215F02-C4DE-495E-9B4A-842743803950}" type="slidenum">
              <a:t>&lt;#&gt;</a:t>
            </a:fld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BA763E7-0A0E-4E06-93EA-8E2C89069781}" type="slidenum">
              <a:t>&lt;#&gt;</a:t>
            </a:fld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F9F3BD1-3633-4B4A-9F43-F1441B58A4CC}" type="slidenum">
              <a:t>&lt;#&gt;</a:t>
            </a:fld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4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5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3BC6AE7-0957-485B-B0DC-47347816ACF5}" type="slidenum">
              <a:t>&lt;#&gt;</a:t>
            </a:fld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BC8AA267-11AC-4E8F-A8CE-1F0614479A0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6F587509-4AA6-4E68-97EA-443E1D120BE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BEB4B058-1155-44EF-94D0-D6C1678A10B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A5B06660-739B-45D4-943D-0FD730FA15A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65D642BA-46E2-438F-A9CD-E5A750D1CF3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39442552-5686-4CBF-87ED-80631C87D91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949EA7D3-89E4-4586-BB1F-2CA12CF5372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1DB5C2CD-881B-4B61-A140-ABBC4261FB5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D1D9AA40-95F7-425D-A17D-DABF05BF6CC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6D7AE044-AC2E-4916-B5F5-A28914838E3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9F873C95-D0E5-4754-9658-68CB88540C4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5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6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7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8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78C41F78-B649-45D5-8F1E-28C1167C648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C01CDA3-C628-4D63-A67B-895A7B183834}" type="slidenum">
              <a:t>&lt;#&gt;</a:t>
            </a:fld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DD4B788-6249-41EF-92B2-32D3E08ECAA7}" type="slidenum">
              <a:t>&lt;#&gt;</a:t>
            </a:fld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D5435C9-9557-45FE-824C-B73ADC6A4DD9}" type="slidenum">
              <a:t>&lt;#&gt;</a:t>
            </a:fld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1975B64-4A7F-4E49-A316-D3DA3BB679B5}" type="slidenum">
              <a:t>&lt;#&gt;</a:t>
            </a:fld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643C08E-6F19-44E5-8DB9-D79A5939BFAF}" type="slidenum">
              <a:t>&lt;#&gt;</a:t>
            </a:fld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4A612A6-AE81-41D3-A427-208FEFBF3F64}" type="slidenum">
              <a:t>&lt;#&gt;</a:t>
            </a:fld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D8E38B3-D8ED-426B-96DF-957CB359FD56}" type="slidenum">
              <a:t>&lt;#&gt;</a:t>
            </a:fld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4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5689474-6197-4B9A-8E24-B46DF1217A6A}" type="slidenum">
              <a:t>&lt;#&gt;</a:t>
            </a:fld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8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30A1C0D-A6C0-474F-AD53-49784612DA6B}" type="slidenum">
              <a:t>&lt;#&gt;</a:t>
            </a:fld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2E71836-E5E5-4221-98C8-2CB7D0026856}" type="slidenum">
              <a:t>&lt;#&gt;</a:t>
            </a:fld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6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9B3BF36-2338-4F8F-8F8E-9A8716F14C0D}" type="slidenum">
              <a:t>&lt;#&gt;</a:t>
            </a:fld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0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1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2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3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6EAA8B9-F106-4767-8579-9C303F4A5D43}" type="slidenum">
              <a:t>&lt;#&gt;</a:t>
            </a:fld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1067BD0-5156-460D-A953-FCDE34F9457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4A947B72-39A2-45FB-BCDE-69D46EDF6FA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20A3CB0-3B53-4C3A-9425-ED0BDA9C00A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93CBBEA-4B51-4F51-8C65-ACBB5EE10AE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598D67E5-367E-4770-BC82-69EB5A53ED5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FA2C037C-645E-4C92-9687-B4C5EBE53FA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63DA70A-D7A6-4EF5-B571-BC27BB41686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44642C19-6974-4ADC-9CCD-6F620C1C3A9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B68B807-449E-4B33-8E63-F62FCE0B774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0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6E5D32B-BFCD-444E-AE6D-7B51922D5D7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537760C-4926-49B1-9D6A-35173CEED01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F8124E0F-7E62-405D-8695-58B9B0F46AD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2.xml"/><Relationship Id="rId8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57.xml"/><Relationship Id="rId13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59.xml"/><Relationship Id="rId15" Type="http://schemas.openxmlformats.org/officeDocument/2006/relationships/slideLayout" Target="../slideLayouts/slideLayout6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a39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oogle Shape;10;p11"/>
          <p:cNvGrpSpPr/>
          <p:nvPr/>
        </p:nvGrpSpPr>
        <p:grpSpPr>
          <a:xfrm>
            <a:off x="6100920" y="0"/>
            <a:ext cx="3043080" cy="2030400"/>
            <a:chOff x="6100920" y="0"/>
            <a:chExt cx="3043080" cy="2030400"/>
          </a:xfrm>
        </p:grpSpPr>
        <p:sp>
          <p:nvSpPr>
            <p:cNvPr id="1" name="Google Shape;11;p11"/>
            <p:cNvSpPr/>
            <p:nvPr/>
          </p:nvSpPr>
          <p:spPr>
            <a:xfrm>
              <a:off x="8128800" y="0"/>
              <a:ext cx="1012680" cy="101268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" name="Google Shape;12;p11"/>
            <p:cNvSpPr/>
            <p:nvPr/>
          </p:nvSpPr>
          <p:spPr>
            <a:xfrm flipH="1">
              <a:off x="7110720" y="0"/>
              <a:ext cx="1012680" cy="1012680"/>
            </a:xfrm>
            <a:prstGeom prst="rtTriangl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" name="Google Shape;13;p11"/>
            <p:cNvSpPr/>
            <p:nvPr/>
          </p:nvSpPr>
          <p:spPr>
            <a:xfrm flipH="1" rot="10800000">
              <a:off x="7113240" y="2520"/>
              <a:ext cx="1012680" cy="1012680"/>
            </a:xfrm>
            <a:prstGeom prst="rtTriangle">
              <a:avLst/>
            </a:prstGeom>
            <a:solidFill>
              <a:schemeClr val="accent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" name="Google Shape;14;p11"/>
            <p:cNvSpPr/>
            <p:nvPr/>
          </p:nvSpPr>
          <p:spPr>
            <a:xfrm rot="10800000">
              <a:off x="6100920" y="2520"/>
              <a:ext cx="1012680" cy="1012680"/>
            </a:xfrm>
            <a:prstGeom prst="rtTriangle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" name="Google Shape;15;p11"/>
            <p:cNvSpPr/>
            <p:nvPr/>
          </p:nvSpPr>
          <p:spPr>
            <a:xfrm rot="10800000">
              <a:off x="8131320" y="1017720"/>
              <a:ext cx="1012680" cy="1012680"/>
            </a:xfrm>
            <a:prstGeom prst="rtTriangle">
              <a:avLst/>
            </a:prstGeom>
            <a:solidFill>
              <a:schemeClr val="accent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6" name="PlaceHolder 1"/>
          <p:cNvSpPr>
            <a:spLocks noGrp="1"/>
          </p:cNvSpPr>
          <p:nvPr>
            <p:ph type="sldNum" idx="1"/>
          </p:nvPr>
        </p:nvSpPr>
        <p:spPr>
          <a:xfrm>
            <a:off x="8460360" y="465120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ffffff"/>
                </a:solidFill>
                <a:latin typeface="Roboto"/>
                <a:ea typeface="Robo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481FAD89-FE45-41C5-9231-74AD4E75D3E6}" type="slidenum">
              <a:rPr b="0" lang="en" sz="1000" spc="-1" strike="noStrike">
                <a:solidFill>
                  <a:srgbClr val="ffffff"/>
                </a:solidFill>
                <a:latin typeface="Roboto"/>
                <a:ea typeface="Roboto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80;p13"/>
          <p:cNvSpPr/>
          <p:nvPr/>
        </p:nvSpPr>
        <p:spPr>
          <a:xfrm>
            <a:off x="4572000" y="0"/>
            <a:ext cx="4569480" cy="514116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Google Shape;81;p13"/>
          <p:cNvSpPr/>
          <p:nvPr/>
        </p:nvSpPr>
        <p:spPr>
          <a:xfrm>
            <a:off x="5029560" y="4495680"/>
            <a:ext cx="46584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sldNum" idx="2"/>
          </p:nvPr>
        </p:nvSpPr>
        <p:spPr>
          <a:xfrm>
            <a:off x="8460360" y="465120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ffffff"/>
                </a:solidFill>
                <a:latin typeface="Roboto"/>
                <a:ea typeface="Robo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B8F73719-5DD3-4817-A60B-1647574D6E38}" type="slidenum">
              <a:rPr b="0" lang="en" sz="1000" spc="-1" strike="noStrike">
                <a:solidFill>
                  <a:srgbClr val="ffffff"/>
                </a:solidFill>
                <a:latin typeface="Roboto"/>
                <a:ea typeface="Roboto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146;p15" descr=""/>
          <p:cNvPicPr/>
          <p:nvPr/>
        </p:nvPicPr>
        <p:blipFill>
          <a:blip r:embed="rId2"/>
          <a:stretch/>
        </p:blipFill>
        <p:spPr>
          <a:xfrm>
            <a:off x="380880" y="4629240"/>
            <a:ext cx="3629160" cy="340560"/>
          </a:xfrm>
          <a:prstGeom prst="rect">
            <a:avLst/>
          </a:prstGeom>
          <a:ln w="0">
            <a:noFill/>
          </a:ln>
        </p:spPr>
      </p:pic>
      <p:pic>
        <p:nvPicPr>
          <p:cNvPr id="87" name="Google Shape;147;p15" descr=""/>
          <p:cNvPicPr/>
          <p:nvPr/>
        </p:nvPicPr>
        <p:blipFill>
          <a:blip r:embed="rId3"/>
          <a:stretch/>
        </p:blipFill>
        <p:spPr>
          <a:xfrm>
            <a:off x="5867280" y="4625280"/>
            <a:ext cx="1960560" cy="408960"/>
          </a:xfrm>
          <a:prstGeom prst="rect">
            <a:avLst/>
          </a:prstGeom>
          <a:ln w="0">
            <a:noFill/>
          </a:ln>
        </p:spPr>
      </p:pic>
      <p:sp>
        <p:nvSpPr>
          <p:cNvPr id="88" name="PlaceHolder 1"/>
          <p:cNvSpPr>
            <a:spLocks noGrp="1"/>
          </p:cNvSpPr>
          <p:nvPr>
            <p:ph type="ftr" idx="3"/>
          </p:nvPr>
        </p:nvSpPr>
        <p:spPr>
          <a:xfrm>
            <a:off x="3124080" y="4767120"/>
            <a:ext cx="2892960" cy="271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sldNum" idx="4"/>
          </p:nvPr>
        </p:nvSpPr>
        <p:spPr>
          <a:xfrm>
            <a:off x="6553080" y="4767120"/>
            <a:ext cx="2131200" cy="271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" sz="1800" spc="-1" strike="noStrike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fld id="{D6BED282-3C1E-4CBF-97C6-3FAA4727B57B}" type="slidenum">
              <a:rPr b="0" lang="en" sz="1800" spc="-1" strike="noStrike">
                <a:solidFill>
                  <a:srgbClr val="000000"/>
                </a:solidFill>
                <a:latin typeface="Calibri"/>
                <a:ea typeface="Calibri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dt" idx="5"/>
          </p:nvPr>
        </p:nvSpPr>
        <p:spPr>
          <a:xfrm>
            <a:off x="457200" y="4767120"/>
            <a:ext cx="2131200" cy="271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92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oogle Shape;238;p17"/>
          <p:cNvGrpSpPr/>
          <p:nvPr/>
        </p:nvGrpSpPr>
        <p:grpSpPr>
          <a:xfrm>
            <a:off x="0" y="3903840"/>
            <a:ext cx="9144000" cy="1237320"/>
            <a:chOff x="0" y="3903840"/>
            <a:chExt cx="9144000" cy="1237320"/>
          </a:xfrm>
        </p:grpSpPr>
        <p:sp>
          <p:nvSpPr>
            <p:cNvPr id="130" name="Google Shape;239;p17"/>
            <p:cNvSpPr/>
            <p:nvPr/>
          </p:nvSpPr>
          <p:spPr>
            <a:xfrm>
              <a:off x="8154720" y="3903840"/>
              <a:ext cx="986760" cy="985320"/>
            </a:xfrm>
            <a:prstGeom prst="rtTriangle">
              <a:avLst/>
            </a:pr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1" name="Google Shape;240;p17"/>
            <p:cNvSpPr/>
            <p:nvPr/>
          </p:nvSpPr>
          <p:spPr>
            <a:xfrm flipH="1">
              <a:off x="6178320" y="3903840"/>
              <a:ext cx="986760" cy="985320"/>
            </a:xfrm>
            <a:prstGeom prst="rtTriangle">
              <a:avLst/>
            </a:pr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2" name="Google Shape;241;p17"/>
            <p:cNvSpPr/>
            <p:nvPr/>
          </p:nvSpPr>
          <p:spPr>
            <a:xfrm>
              <a:off x="7170120" y="3903840"/>
              <a:ext cx="986760" cy="985320"/>
            </a:xfrm>
            <a:prstGeom prst="rect">
              <a:avLst/>
            </a:pr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3" name="Google Shape;242;p17"/>
            <p:cNvSpPr/>
            <p:nvPr/>
          </p:nvSpPr>
          <p:spPr>
            <a:xfrm rot="10800000">
              <a:off x="8157240" y="3906360"/>
              <a:ext cx="986760" cy="985320"/>
            </a:xfrm>
            <a:prstGeom prst="rtTriangle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4" name="Google Shape;243;p17"/>
            <p:cNvSpPr/>
            <p:nvPr/>
          </p:nvSpPr>
          <p:spPr>
            <a:xfrm>
              <a:off x="0" y="4891680"/>
              <a:ext cx="9141480" cy="24948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35" name="PlaceHolder 1"/>
          <p:cNvSpPr>
            <a:spLocks noGrp="1"/>
          </p:cNvSpPr>
          <p:nvPr>
            <p:ph type="sldNum" idx="6"/>
          </p:nvPr>
        </p:nvSpPr>
        <p:spPr>
          <a:xfrm>
            <a:off x="8460360" y="465120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ffffff"/>
                </a:solidFill>
                <a:latin typeface="Roboto"/>
                <a:ea typeface="Robo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36E6CC2E-D200-4084-ADCC-DF04A54A6968}" type="slidenum">
              <a:rPr b="0" lang="en" sz="1000" spc="-1" strike="noStrike">
                <a:solidFill>
                  <a:srgbClr val="ffffff"/>
                </a:solidFill>
                <a:latin typeface="Roboto"/>
                <a:ea typeface="Roboto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308;p19" descr=""/>
          <p:cNvPicPr/>
          <p:nvPr/>
        </p:nvPicPr>
        <p:blipFill>
          <a:blip r:embed="rId2"/>
          <a:stretch/>
        </p:blipFill>
        <p:spPr>
          <a:xfrm>
            <a:off x="380880" y="4629240"/>
            <a:ext cx="3629160" cy="340560"/>
          </a:xfrm>
          <a:prstGeom prst="rect">
            <a:avLst/>
          </a:prstGeom>
          <a:ln w="0">
            <a:noFill/>
          </a:ln>
        </p:spPr>
      </p:pic>
      <p:pic>
        <p:nvPicPr>
          <p:cNvPr id="175" name="Google Shape;309;p19" descr=""/>
          <p:cNvPicPr/>
          <p:nvPr/>
        </p:nvPicPr>
        <p:blipFill>
          <a:blip r:embed="rId3"/>
          <a:stretch/>
        </p:blipFill>
        <p:spPr>
          <a:xfrm>
            <a:off x="5867280" y="4625280"/>
            <a:ext cx="1960560" cy="408960"/>
          </a:xfrm>
          <a:prstGeom prst="rect">
            <a:avLst/>
          </a:prstGeom>
          <a:ln w="0">
            <a:noFill/>
          </a:ln>
        </p:spPr>
      </p:pic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4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Click to edit the outline text format</a:t>
            </a:r>
            <a:endParaRPr b="0" lang="en-US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Second Outline Level</a:t>
            </a:r>
            <a:endParaRPr b="0" lang="en-US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Third Outline Level</a:t>
            </a:r>
            <a:endParaRPr b="0" lang="en-US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Fourth Outline Level</a:t>
            </a:r>
            <a:endParaRPr b="0" lang="en-US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Fifth Outline Level</a:t>
            </a:r>
            <a:endParaRPr b="0" lang="en-US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Sixth Outline Level</a:t>
            </a:r>
            <a:endParaRPr b="0" lang="en-US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Seventh Outline Level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4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Click to edit the outline text format</a:t>
            </a:r>
            <a:endParaRPr b="0" lang="en-US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Second Outline Level</a:t>
            </a:r>
            <a:endParaRPr b="0" lang="en-US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Third Outline Level</a:t>
            </a:r>
            <a:endParaRPr b="0" lang="en-US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Fourth Outline Level</a:t>
            </a:r>
            <a:endParaRPr b="0" lang="en-US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Fifth Outline Level</a:t>
            </a:r>
            <a:endParaRPr b="0" lang="en-US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Sixth Outline Level</a:t>
            </a:r>
            <a:endParaRPr b="0" lang="en-US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Seventh Outline Level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79" name="PlaceHolder 4"/>
          <p:cNvSpPr>
            <a:spLocks noGrp="1"/>
          </p:cNvSpPr>
          <p:nvPr>
            <p:ph type="ftr" idx="7"/>
          </p:nvPr>
        </p:nvSpPr>
        <p:spPr>
          <a:xfrm>
            <a:off x="3124080" y="4767120"/>
            <a:ext cx="2892960" cy="271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80" name="PlaceHolder 5"/>
          <p:cNvSpPr>
            <a:spLocks noGrp="1"/>
          </p:cNvSpPr>
          <p:nvPr>
            <p:ph type="sldNum" idx="8"/>
          </p:nvPr>
        </p:nvSpPr>
        <p:spPr>
          <a:xfrm>
            <a:off x="6553080" y="4767120"/>
            <a:ext cx="2131200" cy="271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" sz="1800" spc="-1" strike="noStrike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fld id="{63A97811-6FEE-4DCF-AA72-907FF5E5BB35}" type="slidenum">
              <a:rPr b="0" lang="en" sz="1800" spc="-1" strike="noStrike">
                <a:solidFill>
                  <a:srgbClr val="000000"/>
                </a:solidFill>
                <a:latin typeface="Calibri"/>
                <a:ea typeface="Calibri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  <p:sp>
        <p:nvSpPr>
          <p:cNvPr id="181" name="PlaceHolder 6"/>
          <p:cNvSpPr>
            <a:spLocks noGrp="1"/>
          </p:cNvSpPr>
          <p:nvPr>
            <p:ph type="dt" idx="9"/>
          </p:nvPr>
        </p:nvSpPr>
        <p:spPr>
          <a:xfrm>
            <a:off x="457200" y="4767120"/>
            <a:ext cx="2131200" cy="271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5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37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37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5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52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25.xml"/><Relationship Id="rId3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597960" y="1775160"/>
            <a:ext cx="8219520" cy="8362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200" spc="-1" strike="noStrike">
                <a:solidFill>
                  <a:srgbClr val="ffffff"/>
                </a:solidFill>
                <a:latin typeface="Roboto"/>
                <a:ea typeface="Roboto"/>
              </a:rPr>
              <a:t>How to Write an Outline</a:t>
            </a:r>
            <a:endParaRPr b="0" lang="en-US" sz="4200" spc="-1" strike="noStrike">
              <a:latin typeface="Arial"/>
            </a:endParaRPr>
          </a:p>
        </p:txBody>
      </p:sp>
      <p:sp>
        <p:nvSpPr>
          <p:cNvPr id="225" name="PlaceHolder 2"/>
          <p:cNvSpPr>
            <a:spLocks noGrp="1"/>
          </p:cNvSpPr>
          <p:nvPr>
            <p:ph type="subTitle"/>
          </p:nvPr>
        </p:nvSpPr>
        <p:spPr>
          <a:xfrm>
            <a:off x="597960" y="2715840"/>
            <a:ext cx="8219520" cy="4305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100" spc="-1" strike="noStrike">
                <a:solidFill>
                  <a:srgbClr val="ffffff"/>
                </a:solidFill>
                <a:latin typeface="Roboto"/>
                <a:ea typeface="Roboto"/>
              </a:rPr>
              <a:t>URI Graduate Writing Center, Spring 2021</a:t>
            </a:r>
            <a:endParaRPr b="0" lang="en-US" sz="2100" spc="-1" strike="noStrike">
              <a:latin typeface="Arial"/>
            </a:endParaRPr>
          </a:p>
        </p:txBody>
      </p:sp>
      <p:pic>
        <p:nvPicPr>
          <p:cNvPr id="226" name="Google Shape;406;p1" descr=""/>
          <p:cNvPicPr/>
          <p:nvPr/>
        </p:nvPicPr>
        <p:blipFill>
          <a:blip r:embed="rId1"/>
          <a:srcRect l="23148" t="15780" r="24682" b="9781"/>
          <a:stretch/>
        </p:blipFill>
        <p:spPr>
          <a:xfrm>
            <a:off x="7125840" y="2481480"/>
            <a:ext cx="1449720" cy="2321640"/>
          </a:xfrm>
          <a:prstGeom prst="rect">
            <a:avLst/>
          </a:prstGeom>
          <a:ln w="0">
            <a:noFill/>
          </a:ln>
        </p:spPr>
      </p:pic>
      <p:sp>
        <p:nvSpPr>
          <p:cNvPr id="227" name="Google Shape;407;p1"/>
          <p:cNvSpPr/>
          <p:nvPr/>
        </p:nvSpPr>
        <p:spPr>
          <a:xfrm>
            <a:off x="357120" y="1448280"/>
            <a:ext cx="6238800" cy="203112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7890c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8" name="Google Shape;408;p1"/>
          <p:cNvSpPr/>
          <p:nvPr/>
        </p:nvSpPr>
        <p:spPr>
          <a:xfrm flipH="1">
            <a:off x="6595920" y="2579760"/>
            <a:ext cx="1440" cy="351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2a39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9" name="Google Shape;409;p1"/>
          <p:cNvSpPr/>
          <p:nvPr/>
        </p:nvSpPr>
        <p:spPr>
          <a:xfrm>
            <a:off x="6598080" y="2571840"/>
            <a:ext cx="698760" cy="519120"/>
          </a:xfrm>
          <a:custGeom>
            <a:avLst/>
            <a:gdLst/>
            <a:ahLst/>
            <a:rect l="l" t="t" r="r" b="b"/>
            <a:pathLst>
              <a:path w="27977" h="21952">
                <a:moveTo>
                  <a:pt x="431" y="0"/>
                </a:moveTo>
                <a:lnTo>
                  <a:pt x="27977" y="21952"/>
                </a:lnTo>
                <a:lnTo>
                  <a:pt x="0" y="15495"/>
                </a:lnTo>
              </a:path>
            </a:pathLst>
          </a:custGeom>
          <a:noFill/>
          <a:ln w="9525">
            <a:solidFill>
              <a:srgbClr val="7890cd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title"/>
          </p:nvPr>
        </p:nvSpPr>
        <p:spPr>
          <a:xfrm>
            <a:off x="265680" y="1576080"/>
            <a:ext cx="4042800" cy="198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b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200" spc="-1" strike="noStrike">
                <a:solidFill>
                  <a:srgbClr val="2a3990"/>
                </a:solidFill>
                <a:latin typeface="Roboto"/>
                <a:ea typeface="Roboto"/>
              </a:rPr>
              <a:t>Why should you prepare an outline?</a:t>
            </a:r>
            <a:endParaRPr b="0" lang="en-US" sz="4200" spc="-1" strike="noStrike">
              <a:latin typeface="Arial"/>
            </a:endParaRPr>
          </a:p>
        </p:txBody>
      </p:sp>
      <p:sp>
        <p:nvSpPr>
          <p:cNvPr id="231" name="Google Shape;415;p2"/>
          <p:cNvSpPr/>
          <p:nvPr/>
        </p:nvSpPr>
        <p:spPr>
          <a:xfrm>
            <a:off x="6133320" y="2082600"/>
            <a:ext cx="1320840" cy="1318320"/>
          </a:xfrm>
          <a:prstGeom prst="ellipse">
            <a:avLst/>
          </a:prstGeom>
          <a:solidFill>
            <a:srgbClr val="f48fb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3000" spc="-1" strike="noStrike">
                <a:solidFill>
                  <a:srgbClr val="9c254d"/>
                </a:solidFill>
                <a:latin typeface="Arial"/>
                <a:ea typeface="Arial"/>
              </a:rPr>
              <a:t>?</a:t>
            </a:r>
            <a:endParaRPr b="0" lang="en-US" sz="3000" spc="-1" strike="noStrike">
              <a:latin typeface="Arial"/>
            </a:endParaRPr>
          </a:p>
        </p:txBody>
      </p:sp>
      <p:grpSp>
        <p:nvGrpSpPr>
          <p:cNvPr id="232" name="Google Shape;416;p2"/>
          <p:cNvGrpSpPr/>
          <p:nvPr/>
        </p:nvGrpSpPr>
        <p:grpSpPr>
          <a:xfrm>
            <a:off x="6416640" y="1719360"/>
            <a:ext cx="2954880" cy="3294720"/>
            <a:chOff x="6416640" y="1719360"/>
            <a:chExt cx="2954880" cy="3294720"/>
          </a:xfrm>
        </p:grpSpPr>
        <p:sp>
          <p:nvSpPr>
            <p:cNvPr id="233" name="Google Shape;417;p2"/>
            <p:cNvSpPr/>
            <p:nvPr/>
          </p:nvSpPr>
          <p:spPr>
            <a:xfrm rot="18319800">
              <a:off x="6367320" y="2761920"/>
              <a:ext cx="3181680" cy="1209240"/>
            </a:xfrm>
            <a:custGeom>
              <a:avLst/>
              <a:gdLst/>
              <a:ahLst/>
              <a:rect l="l" t="t" r="r" b="b"/>
              <a:pathLst>
                <a:path w="492" h="187">
                  <a:moveTo>
                    <a:pt x="457" y="0"/>
                  </a:moveTo>
                  <a:cubicBezTo>
                    <a:pt x="416" y="91"/>
                    <a:pt x="325" y="155"/>
                    <a:pt x="218" y="155"/>
                  </a:cubicBezTo>
                  <a:cubicBezTo>
                    <a:pt x="137" y="155"/>
                    <a:pt x="64" y="118"/>
                    <a:pt x="17" y="60"/>
                  </a:cubicBezTo>
                  <a:cubicBezTo>
                    <a:pt x="11" y="70"/>
                    <a:pt x="5" y="80"/>
                    <a:pt x="0" y="90"/>
                  </a:cubicBezTo>
                  <a:cubicBezTo>
                    <a:pt x="54" y="150"/>
                    <a:pt x="132" y="187"/>
                    <a:pt x="218" y="187"/>
                  </a:cubicBezTo>
                  <a:cubicBezTo>
                    <a:pt x="343" y="187"/>
                    <a:pt x="449" y="109"/>
                    <a:pt x="492" y="0"/>
                  </a:cubicBezTo>
                  <a:cubicBezTo>
                    <a:pt x="480" y="0"/>
                    <a:pt x="468" y="1"/>
                    <a:pt x="457" y="0"/>
                  </a:cubicBezTo>
                  <a:close/>
                </a:path>
              </a:pathLst>
            </a:custGeom>
            <a:solidFill>
              <a:srgbClr val="f48fb0"/>
            </a:solidFill>
            <a:ln w="9525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4" name="Google Shape;418;p2"/>
            <p:cNvSpPr/>
            <p:nvPr/>
          </p:nvSpPr>
          <p:spPr>
            <a:xfrm rot="18319800">
              <a:off x="6332040" y="2658600"/>
              <a:ext cx="2727000" cy="1202760"/>
            </a:xfrm>
            <a:custGeom>
              <a:avLst/>
              <a:gdLst/>
              <a:ahLst/>
              <a:rect l="l" t="t" r="r" b="b"/>
              <a:pathLst>
                <a:path w="440" h="194">
                  <a:moveTo>
                    <a:pt x="262" y="39"/>
                  </a:moveTo>
                  <a:cubicBezTo>
                    <a:pt x="206" y="71"/>
                    <a:pt x="134" y="53"/>
                    <a:pt x="100" y="0"/>
                  </a:cubicBezTo>
                  <a:cubicBezTo>
                    <a:pt x="57" y="25"/>
                    <a:pt x="24" y="60"/>
                    <a:pt x="0" y="99"/>
                  </a:cubicBezTo>
                  <a:cubicBezTo>
                    <a:pt x="47" y="157"/>
                    <a:pt x="120" y="194"/>
                    <a:pt x="201" y="194"/>
                  </a:cubicBezTo>
                  <a:cubicBezTo>
                    <a:pt x="308" y="194"/>
                    <a:pt x="399" y="130"/>
                    <a:pt x="440" y="39"/>
                  </a:cubicBezTo>
                  <a:cubicBezTo>
                    <a:pt x="393" y="37"/>
                    <a:pt x="346" y="24"/>
                    <a:pt x="303" y="0"/>
                  </a:cubicBezTo>
                  <a:cubicBezTo>
                    <a:pt x="292" y="15"/>
                    <a:pt x="279" y="29"/>
                    <a:pt x="262" y="39"/>
                  </a:cubicBezTo>
                  <a:close/>
                </a:path>
              </a:pathLst>
            </a:custGeom>
            <a:solidFill>
              <a:srgbClr val="e1165a"/>
            </a:solidFill>
            <a:ln w="9525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5" name="Google Shape;419;p2"/>
            <p:cNvSpPr/>
            <p:nvPr/>
          </p:nvSpPr>
          <p:spPr>
            <a:xfrm rot="17820600">
              <a:off x="6964200" y="3062160"/>
              <a:ext cx="1575360" cy="56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en" sz="1400" spc="-1" strike="noStrike">
                  <a:solidFill>
                    <a:srgbClr val="ffffff"/>
                  </a:solidFill>
                  <a:latin typeface="Roboto"/>
                  <a:ea typeface="Roboto"/>
                </a:rPr>
                <a:t>Follow Genre Structure</a:t>
              </a:r>
              <a:r>
                <a:rPr b="0" lang="en" sz="1000" spc="-1" strike="noStrike">
                  <a:solidFill>
                    <a:srgbClr val="ffffff"/>
                  </a:solidFill>
                  <a:latin typeface="Roboto"/>
                  <a:ea typeface="Roboto"/>
                </a:rPr>
                <a:t> </a:t>
              </a:r>
              <a:endParaRPr b="0" lang="en-US" sz="1000" spc="-1" strike="noStrike">
                <a:latin typeface="Arial"/>
              </a:endParaRPr>
            </a:p>
          </p:txBody>
        </p:sp>
      </p:grpSp>
      <p:grpSp>
        <p:nvGrpSpPr>
          <p:cNvPr id="236" name="Google Shape;420;p2"/>
          <p:cNvGrpSpPr/>
          <p:nvPr/>
        </p:nvGrpSpPr>
        <p:grpSpPr>
          <a:xfrm>
            <a:off x="5089320" y="127440"/>
            <a:ext cx="3290040" cy="3219480"/>
            <a:chOff x="5089320" y="127440"/>
            <a:chExt cx="3290040" cy="3219480"/>
          </a:xfrm>
        </p:grpSpPr>
        <p:sp>
          <p:nvSpPr>
            <p:cNvPr id="237" name="Google Shape;421;p2"/>
            <p:cNvSpPr/>
            <p:nvPr/>
          </p:nvSpPr>
          <p:spPr>
            <a:xfrm rot="18319800">
              <a:off x="5641200" y="495360"/>
              <a:ext cx="2185920" cy="2483280"/>
            </a:xfrm>
            <a:custGeom>
              <a:avLst/>
              <a:gdLst/>
              <a:ahLst/>
              <a:rect l="l" t="t" r="r" b="b"/>
              <a:pathLst>
                <a:path w="338" h="384">
                  <a:moveTo>
                    <a:pt x="45" y="32"/>
                  </a:moveTo>
                  <a:cubicBezTo>
                    <a:pt x="189" y="32"/>
                    <a:pt x="306" y="148"/>
                    <a:pt x="306" y="292"/>
                  </a:cubicBezTo>
                  <a:cubicBezTo>
                    <a:pt x="306" y="325"/>
                    <a:pt x="300" y="355"/>
                    <a:pt x="289" y="384"/>
                  </a:cubicBezTo>
                  <a:cubicBezTo>
                    <a:pt x="301" y="384"/>
                    <a:pt x="312" y="384"/>
                    <a:pt x="324" y="383"/>
                  </a:cubicBezTo>
                  <a:cubicBezTo>
                    <a:pt x="333" y="354"/>
                    <a:pt x="338" y="324"/>
                    <a:pt x="338" y="292"/>
                  </a:cubicBezTo>
                  <a:cubicBezTo>
                    <a:pt x="338" y="131"/>
                    <a:pt x="207" y="0"/>
                    <a:pt x="45" y="0"/>
                  </a:cubicBezTo>
                  <a:cubicBezTo>
                    <a:pt x="30" y="0"/>
                    <a:pt x="15" y="1"/>
                    <a:pt x="0" y="3"/>
                  </a:cubicBezTo>
                  <a:cubicBezTo>
                    <a:pt x="6" y="13"/>
                    <a:pt x="12" y="23"/>
                    <a:pt x="18" y="33"/>
                  </a:cubicBezTo>
                  <a:cubicBezTo>
                    <a:pt x="27" y="32"/>
                    <a:pt x="36" y="32"/>
                    <a:pt x="45" y="32"/>
                  </a:cubicBezTo>
                  <a:close/>
                </a:path>
              </a:pathLst>
            </a:custGeom>
            <a:solidFill>
              <a:srgbClr val="f48fb0"/>
            </a:solidFill>
            <a:ln w="9525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8" name="Google Shape;422;p2"/>
            <p:cNvSpPr/>
            <p:nvPr/>
          </p:nvSpPr>
          <p:spPr>
            <a:xfrm rot="18319800">
              <a:off x="5898960" y="779400"/>
              <a:ext cx="1787760" cy="2183400"/>
            </a:xfrm>
            <a:custGeom>
              <a:avLst/>
              <a:gdLst/>
              <a:ahLst/>
              <a:rect l="l" t="t" r="r" b="b"/>
              <a:pathLst>
                <a:path w="288" h="352">
                  <a:moveTo>
                    <a:pt x="27" y="0"/>
                  </a:moveTo>
                  <a:cubicBezTo>
                    <a:pt x="18" y="0"/>
                    <a:pt x="9" y="0"/>
                    <a:pt x="0" y="1"/>
                  </a:cubicBezTo>
                  <a:cubicBezTo>
                    <a:pt x="21" y="43"/>
                    <a:pt x="34" y="90"/>
                    <a:pt x="35" y="140"/>
                  </a:cubicBezTo>
                  <a:cubicBezTo>
                    <a:pt x="74" y="142"/>
                    <a:pt x="111" y="163"/>
                    <a:pt x="132" y="200"/>
                  </a:cubicBezTo>
                  <a:cubicBezTo>
                    <a:pt x="153" y="236"/>
                    <a:pt x="153" y="279"/>
                    <a:pt x="136" y="315"/>
                  </a:cubicBezTo>
                  <a:cubicBezTo>
                    <a:pt x="179" y="339"/>
                    <a:pt x="225" y="351"/>
                    <a:pt x="271" y="352"/>
                  </a:cubicBezTo>
                  <a:cubicBezTo>
                    <a:pt x="282" y="323"/>
                    <a:pt x="288" y="293"/>
                    <a:pt x="288" y="260"/>
                  </a:cubicBezTo>
                  <a:cubicBezTo>
                    <a:pt x="288" y="116"/>
                    <a:pt x="171" y="0"/>
                    <a:pt x="27" y="0"/>
                  </a:cubicBezTo>
                  <a:close/>
                </a:path>
              </a:pathLst>
            </a:custGeom>
            <a:solidFill>
              <a:srgbClr val="b61249"/>
            </a:solidFill>
            <a:ln w="9525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9" name="Google Shape;423;p2"/>
            <p:cNvSpPr/>
            <p:nvPr/>
          </p:nvSpPr>
          <p:spPr>
            <a:xfrm>
              <a:off x="6015600" y="1351440"/>
              <a:ext cx="1575360" cy="56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en" sz="1400" spc="-1" strike="noStrike">
                  <a:solidFill>
                    <a:srgbClr val="ffffff"/>
                  </a:solidFill>
                  <a:latin typeface="Roboto"/>
                  <a:ea typeface="Roboto"/>
                </a:rPr>
                <a:t>Organize Your Ideas</a:t>
              </a:r>
              <a:endParaRPr b="0" lang="en-US" sz="1400" spc="-1" strike="noStrike">
                <a:latin typeface="Arial"/>
              </a:endParaRPr>
            </a:p>
          </p:txBody>
        </p:sp>
      </p:grpSp>
      <p:grpSp>
        <p:nvGrpSpPr>
          <p:cNvPr id="240" name="Google Shape;424;p2"/>
          <p:cNvGrpSpPr/>
          <p:nvPr/>
        </p:nvGrpSpPr>
        <p:grpSpPr>
          <a:xfrm>
            <a:off x="4191120" y="1884240"/>
            <a:ext cx="3421080" cy="3117960"/>
            <a:chOff x="4191120" y="1884240"/>
            <a:chExt cx="3421080" cy="3117960"/>
          </a:xfrm>
        </p:grpSpPr>
        <p:sp>
          <p:nvSpPr>
            <p:cNvPr id="241" name="Google Shape;425;p2"/>
            <p:cNvSpPr/>
            <p:nvPr/>
          </p:nvSpPr>
          <p:spPr>
            <a:xfrm rot="18319800">
              <a:off x="5090040" y="1938960"/>
              <a:ext cx="1622520" cy="3043080"/>
            </a:xfrm>
            <a:custGeom>
              <a:avLst/>
              <a:gdLst/>
              <a:ahLst/>
              <a:rect l="l" t="t" r="r" b="b"/>
              <a:pathLst>
                <a:path w="251" h="470">
                  <a:moveTo>
                    <a:pt x="32" y="286"/>
                  </a:moveTo>
                  <a:cubicBezTo>
                    <a:pt x="32" y="157"/>
                    <a:pt x="127" y="49"/>
                    <a:pt x="251" y="29"/>
                  </a:cubicBezTo>
                  <a:cubicBezTo>
                    <a:pt x="245" y="19"/>
                    <a:pt x="239" y="9"/>
                    <a:pt x="233" y="0"/>
                  </a:cubicBezTo>
                  <a:cubicBezTo>
                    <a:pt x="100" y="28"/>
                    <a:pt x="0" y="145"/>
                    <a:pt x="0" y="286"/>
                  </a:cubicBezTo>
                  <a:cubicBezTo>
                    <a:pt x="0" y="356"/>
                    <a:pt x="25" y="420"/>
                    <a:pt x="65" y="470"/>
                  </a:cubicBezTo>
                  <a:cubicBezTo>
                    <a:pt x="70" y="460"/>
                    <a:pt x="76" y="450"/>
                    <a:pt x="82" y="440"/>
                  </a:cubicBezTo>
                  <a:cubicBezTo>
                    <a:pt x="51" y="397"/>
                    <a:pt x="32" y="344"/>
                    <a:pt x="32" y="286"/>
                  </a:cubicBezTo>
                  <a:close/>
                </a:path>
              </a:pathLst>
            </a:custGeom>
            <a:solidFill>
              <a:srgbClr val="f48fb0"/>
            </a:solidFill>
            <a:ln w="9525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2" name="Google Shape;426;p2"/>
            <p:cNvSpPr/>
            <p:nvPr/>
          </p:nvSpPr>
          <p:spPr>
            <a:xfrm rot="18319800">
              <a:off x="5267880" y="1988280"/>
              <a:ext cx="1573200" cy="2548080"/>
            </a:xfrm>
            <a:custGeom>
              <a:avLst/>
              <a:gdLst/>
              <a:ahLst/>
              <a:rect l="l" t="t" r="r" b="b"/>
              <a:pathLst>
                <a:path w="254" h="411">
                  <a:moveTo>
                    <a:pt x="152" y="311"/>
                  </a:moveTo>
                  <a:cubicBezTo>
                    <a:pt x="124" y="254"/>
                    <a:pt x="145" y="185"/>
                    <a:pt x="200" y="153"/>
                  </a:cubicBezTo>
                  <a:cubicBezTo>
                    <a:pt x="217" y="143"/>
                    <a:pt x="236" y="137"/>
                    <a:pt x="254" y="136"/>
                  </a:cubicBezTo>
                  <a:cubicBezTo>
                    <a:pt x="253" y="87"/>
                    <a:pt x="241" y="41"/>
                    <a:pt x="219" y="0"/>
                  </a:cubicBezTo>
                  <a:cubicBezTo>
                    <a:pt x="95" y="20"/>
                    <a:pt x="0" y="128"/>
                    <a:pt x="0" y="257"/>
                  </a:cubicBezTo>
                  <a:cubicBezTo>
                    <a:pt x="0" y="315"/>
                    <a:pt x="19" y="368"/>
                    <a:pt x="50" y="411"/>
                  </a:cubicBezTo>
                  <a:cubicBezTo>
                    <a:pt x="75" y="371"/>
                    <a:pt x="110" y="337"/>
                    <a:pt x="152" y="311"/>
                  </a:cubicBezTo>
                  <a:close/>
                </a:path>
              </a:pathLst>
            </a:custGeom>
            <a:solidFill>
              <a:srgbClr val="840d35"/>
            </a:solidFill>
            <a:ln w="9525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3" name="Google Shape;427;p2"/>
            <p:cNvSpPr/>
            <p:nvPr/>
          </p:nvSpPr>
          <p:spPr>
            <a:xfrm flipH="1" rot="3725400">
              <a:off x="5095080" y="3061800"/>
              <a:ext cx="1575000" cy="561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en" sz="1400" spc="-1" strike="noStrike">
                  <a:solidFill>
                    <a:srgbClr val="ffffff"/>
                  </a:solidFill>
                  <a:latin typeface="Roboto"/>
                  <a:ea typeface="Roboto"/>
                </a:rPr>
                <a:t>Accountability </a:t>
              </a:r>
              <a:endParaRPr b="0" lang="en-US" sz="1400" spc="-1" strike="noStrike"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5189760" cy="85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400" spc="-1" strike="noStrike">
                <a:solidFill>
                  <a:srgbClr val="000000"/>
                </a:solidFill>
                <a:latin typeface="Roboto"/>
                <a:ea typeface="Roboto"/>
              </a:rPr>
              <a:t>Concept Map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45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4683960" cy="3391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57200" indent="-431640">
              <a:lnSpc>
                <a:spcPct val="100000"/>
              </a:lnSpc>
              <a:buClr>
                <a:srgbClr val="000000"/>
              </a:buClr>
              <a:buFont typeface="Roboto Light"/>
              <a:buChar char="•"/>
            </a:pPr>
            <a:r>
              <a:rPr b="0" lang="en" sz="3200" spc="-1" strike="noStrike">
                <a:solidFill>
                  <a:srgbClr val="000000"/>
                </a:solidFill>
                <a:latin typeface="Roboto Light"/>
                <a:ea typeface="Roboto Light"/>
              </a:rPr>
              <a:t>Main idea</a:t>
            </a:r>
            <a:endParaRPr b="0" lang="en-US" sz="3200" spc="-1" strike="noStrike">
              <a:latin typeface="Arial"/>
            </a:endParaRPr>
          </a:p>
          <a:p>
            <a:pPr marL="457200" indent="-431640">
              <a:lnSpc>
                <a:spcPct val="100000"/>
              </a:lnSpc>
              <a:buClr>
                <a:srgbClr val="000000"/>
              </a:buClr>
              <a:buFont typeface="Roboto Light"/>
              <a:buChar char="•"/>
            </a:pPr>
            <a:r>
              <a:rPr b="0" lang="en" sz="3200" spc="-1" strike="noStrike">
                <a:solidFill>
                  <a:srgbClr val="000000"/>
                </a:solidFill>
                <a:latin typeface="Roboto Light"/>
                <a:ea typeface="Roboto Light"/>
              </a:rPr>
              <a:t>Sub topics</a:t>
            </a:r>
            <a:endParaRPr b="0" lang="en-US" sz="3200" spc="-1" strike="noStrike">
              <a:latin typeface="Arial"/>
            </a:endParaRPr>
          </a:p>
          <a:p>
            <a:pPr lvl="1" marL="914400" indent="-431640">
              <a:lnSpc>
                <a:spcPct val="100000"/>
              </a:lnSpc>
              <a:buClr>
                <a:srgbClr val="000000"/>
              </a:buClr>
              <a:buFont typeface="Roboto Light"/>
              <a:buChar char="•"/>
            </a:pPr>
            <a:r>
              <a:rPr b="0" lang="en" sz="2800" spc="-1" strike="noStrike">
                <a:solidFill>
                  <a:srgbClr val="000000"/>
                </a:solidFill>
                <a:latin typeface="Roboto Light"/>
                <a:ea typeface="Roboto Light"/>
              </a:rPr>
              <a:t>first point of sub topics</a:t>
            </a:r>
            <a:endParaRPr b="0" lang="en-US" sz="2800" spc="-1" strike="noStrike">
              <a:latin typeface="Arial"/>
            </a:endParaRPr>
          </a:p>
          <a:p>
            <a:pPr lvl="1" marL="914400" indent="-431640">
              <a:lnSpc>
                <a:spcPct val="100000"/>
              </a:lnSpc>
              <a:buClr>
                <a:srgbClr val="000000"/>
              </a:buClr>
              <a:buFont typeface="Roboto Light"/>
              <a:buChar char="•"/>
            </a:pPr>
            <a:r>
              <a:rPr b="0" lang="en" sz="2800" spc="-1" strike="noStrike">
                <a:solidFill>
                  <a:srgbClr val="000000"/>
                </a:solidFill>
                <a:latin typeface="Roboto Light"/>
                <a:ea typeface="Roboto Light"/>
              </a:rPr>
              <a:t>second point of sub topics</a:t>
            </a:r>
            <a:endParaRPr b="0" lang="en-US" sz="2800" spc="-1" strike="noStrike">
              <a:latin typeface="Arial"/>
            </a:endParaRPr>
          </a:p>
          <a:p>
            <a:pPr marL="457200">
              <a:lnSpc>
                <a:spcPct val="100000"/>
              </a:lnSpc>
              <a:buNone/>
            </a:pPr>
            <a:r>
              <a:rPr b="0" lang="en" sz="3200" spc="-1" strike="noStrike">
                <a:solidFill>
                  <a:srgbClr val="000000"/>
                </a:solidFill>
                <a:latin typeface="Roboto Light"/>
                <a:ea typeface="Roboto Light"/>
              </a:rPr>
              <a:t>continuation of the sub topics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246" name="Google Shape;434;p 1" descr=""/>
          <p:cNvPicPr/>
          <p:nvPr/>
        </p:nvPicPr>
        <p:blipFill>
          <a:blip r:embed="rId1"/>
          <a:stretch/>
        </p:blipFill>
        <p:spPr>
          <a:xfrm>
            <a:off x="5437800" y="115200"/>
            <a:ext cx="3025800" cy="4243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311760" y="410040"/>
            <a:ext cx="8517960" cy="6051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600" spc="-1" strike="noStrike">
                <a:solidFill>
                  <a:srgbClr val="2a3990"/>
                </a:solidFill>
                <a:latin typeface="Roboto"/>
                <a:ea typeface="Roboto"/>
              </a:rPr>
              <a:t>Structuring your outline: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248" name="PlaceHolder 2"/>
          <p:cNvSpPr>
            <a:spLocks noGrp="1"/>
          </p:cNvSpPr>
          <p:nvPr>
            <p:ph/>
          </p:nvPr>
        </p:nvSpPr>
        <p:spPr>
          <a:xfrm>
            <a:off x="311760" y="1218960"/>
            <a:ext cx="8517960" cy="33364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457200" indent="-330120">
              <a:lnSpc>
                <a:spcPct val="115000"/>
              </a:lnSpc>
              <a:buClr>
                <a:srgbClr val="434343"/>
              </a:buClr>
              <a:buFont typeface="Roboto"/>
              <a:buAutoNum type="arabicPeriod"/>
            </a:pPr>
            <a:r>
              <a:rPr b="0" lang="en" sz="1600" spc="-1" strike="noStrike">
                <a:solidFill>
                  <a:srgbClr val="434343"/>
                </a:solidFill>
                <a:latin typeface="Roboto"/>
                <a:ea typeface="Roboto"/>
              </a:rPr>
              <a:t>Introduction</a:t>
            </a:r>
            <a:endParaRPr b="0" lang="en-US" sz="16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Interesting opening “hook”</a:t>
            </a:r>
            <a:endParaRPr b="0" lang="en-US" sz="14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Background info</a:t>
            </a:r>
            <a:endParaRPr b="0" lang="en-US" sz="14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Thesis statement</a:t>
            </a:r>
            <a:endParaRPr b="0" lang="en-US" sz="1400" spc="-1" strike="noStrike"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434343"/>
              </a:buClr>
              <a:buFont typeface="Roboto"/>
              <a:buAutoNum type="arabicPeriod"/>
            </a:pPr>
            <a:r>
              <a:rPr b="0" lang="en" sz="1600" spc="-1" strike="noStrike">
                <a:solidFill>
                  <a:srgbClr val="434343"/>
                </a:solidFill>
                <a:latin typeface="Roboto"/>
                <a:ea typeface="Roboto"/>
              </a:rPr>
              <a:t>Body</a:t>
            </a:r>
            <a:endParaRPr b="0" lang="en-US" sz="16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1st main supporting point → topic sentence(s)</a:t>
            </a:r>
            <a:endParaRPr b="0" lang="en-US" sz="1400" spc="-1" strike="noStrike">
              <a:latin typeface="Arial"/>
            </a:endParaRPr>
          </a:p>
          <a:p>
            <a:pPr lvl="2" marL="13716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roman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Supporting arguments and information</a:t>
            </a:r>
            <a:endParaRPr b="0" lang="en-US" sz="14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2nd main supporting point → topic sentence(s)</a:t>
            </a:r>
            <a:endParaRPr b="0" lang="en-US" sz="1400" spc="-1" strike="noStrike">
              <a:latin typeface="Arial"/>
            </a:endParaRPr>
          </a:p>
          <a:p>
            <a:pPr lvl="2" marL="13716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roman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Supporting arguments and information</a:t>
            </a:r>
            <a:endParaRPr b="0" lang="en-US" sz="1400" spc="-1" strike="noStrike"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434343"/>
              </a:buClr>
              <a:buFont typeface="Roboto"/>
              <a:buAutoNum type="arabicPeriod"/>
            </a:pPr>
            <a:r>
              <a:rPr b="0" lang="en" sz="1600" spc="-1" strike="noStrike">
                <a:solidFill>
                  <a:srgbClr val="434343"/>
                </a:solidFill>
                <a:latin typeface="Roboto"/>
                <a:ea typeface="Roboto"/>
              </a:rPr>
              <a:t>Conclusion</a:t>
            </a:r>
            <a:endParaRPr b="0" lang="en-US" sz="16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Reiterate thesis statement</a:t>
            </a:r>
            <a:endParaRPr b="0" lang="en-US" sz="14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Summarize supporting arguments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1599"/>
              </a:spcBef>
              <a:buNone/>
              <a:tabLst>
                <a:tab algn="l" pos="0"/>
              </a:tabLst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1599"/>
              </a:spcBef>
              <a:buNone/>
              <a:tabLst>
                <a:tab algn="l" pos="0"/>
              </a:tabLst>
            </a:pPr>
            <a:endParaRPr b="0" lang="en-US" sz="1800" spc="-1" strike="noStrike">
              <a:latin typeface="Arial"/>
            </a:endParaRPr>
          </a:p>
        </p:txBody>
      </p:sp>
      <p:sp>
        <p:nvSpPr>
          <p:cNvPr id="249" name="Google Shape;441;p4"/>
          <p:cNvSpPr/>
          <p:nvPr/>
        </p:nvSpPr>
        <p:spPr>
          <a:xfrm flipH="1">
            <a:off x="4723200" y="410040"/>
            <a:ext cx="3311640" cy="1573920"/>
          </a:xfrm>
          <a:prstGeom prst="wedgeEllipseCallout">
            <a:avLst>
              <a:gd name="adj1" fmla="val -20833"/>
              <a:gd name="adj2" fmla="val 62500"/>
            </a:avLst>
          </a:prstGeom>
          <a:noFill/>
          <a:ln w="9525">
            <a:solidFill>
              <a:srgbClr val="9c25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9c254d"/>
                </a:solidFill>
                <a:latin typeface="Roboto"/>
                <a:ea typeface="Roboto"/>
              </a:rPr>
              <a:t>You don’t have to draft the paper in this same order! Try writing the body, then intro, then conclusion. </a:t>
            </a:r>
            <a:endParaRPr b="0" lang="en-US" sz="1400" spc="-1" strike="noStrike">
              <a:latin typeface="Arial"/>
            </a:endParaRPr>
          </a:p>
        </p:txBody>
      </p:sp>
      <p:pic>
        <p:nvPicPr>
          <p:cNvPr id="250" name="Google Shape;442;p4" descr=""/>
          <p:cNvPicPr/>
          <p:nvPr/>
        </p:nvPicPr>
        <p:blipFill>
          <a:blip r:embed="rId1"/>
          <a:srcRect l="23148" t="15780" r="24682" b="9781"/>
          <a:stretch/>
        </p:blipFill>
        <p:spPr>
          <a:xfrm>
            <a:off x="7115040" y="1641960"/>
            <a:ext cx="1449720" cy="2321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311760" y="147600"/>
            <a:ext cx="8517960" cy="6051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600" spc="-1" strike="noStrike">
                <a:solidFill>
                  <a:srgbClr val="2a3990"/>
                </a:solidFill>
                <a:latin typeface="Roboto"/>
                <a:ea typeface="Roboto"/>
              </a:rPr>
              <a:t>Structuring your outline: IMRAD formatted manuscripts*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252" name="PlaceHolder 2"/>
          <p:cNvSpPr>
            <a:spLocks noGrp="1"/>
          </p:cNvSpPr>
          <p:nvPr>
            <p:ph/>
          </p:nvPr>
        </p:nvSpPr>
        <p:spPr>
          <a:xfrm>
            <a:off x="311760" y="755280"/>
            <a:ext cx="5330520" cy="4159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457200" indent="-343080">
              <a:lnSpc>
                <a:spcPct val="115000"/>
              </a:lnSpc>
              <a:buClr>
                <a:srgbClr val="434343"/>
              </a:buClr>
              <a:buFont typeface="Roboto"/>
              <a:buAutoNum type="arabicPeriod"/>
            </a:pPr>
            <a:r>
              <a:rPr b="0" lang="en" sz="1800" spc="-1" strike="noStrike">
                <a:solidFill>
                  <a:srgbClr val="434343"/>
                </a:solidFill>
                <a:latin typeface="Roboto"/>
                <a:ea typeface="Roboto"/>
              </a:rPr>
              <a:t>Introduction</a:t>
            </a:r>
            <a:endParaRPr b="0" lang="en-US" sz="1800" spc="-1" strike="noStrike">
              <a:latin typeface="Arial"/>
            </a:endParaRPr>
          </a:p>
          <a:p>
            <a:pPr lvl="1" marL="914400" indent="-31104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300" spc="-1" strike="noStrike">
                <a:solidFill>
                  <a:srgbClr val="434343"/>
                </a:solidFill>
                <a:latin typeface="Roboto"/>
                <a:ea typeface="Roboto"/>
              </a:rPr>
              <a:t>Set the context</a:t>
            </a:r>
            <a:endParaRPr b="0" lang="en-US" sz="1300" spc="-1" strike="noStrike">
              <a:latin typeface="Arial"/>
            </a:endParaRPr>
          </a:p>
          <a:p>
            <a:pPr lvl="2" marL="1371600" indent="-311040">
              <a:lnSpc>
                <a:spcPct val="115000"/>
              </a:lnSpc>
              <a:buClr>
                <a:srgbClr val="434343"/>
              </a:buClr>
              <a:buFont typeface="Roboto"/>
              <a:buAutoNum type="romanLcPeriod"/>
            </a:pPr>
            <a:r>
              <a:rPr b="0" lang="en" sz="1300" spc="-1" strike="noStrike">
                <a:solidFill>
                  <a:srgbClr val="434343"/>
                </a:solidFill>
                <a:latin typeface="Roboto"/>
                <a:ea typeface="Roboto"/>
              </a:rPr>
              <a:t>Credible background information</a:t>
            </a:r>
            <a:endParaRPr b="0" lang="en-US" sz="1300" spc="-1" strike="noStrike">
              <a:latin typeface="Arial"/>
            </a:endParaRPr>
          </a:p>
          <a:p>
            <a:pPr lvl="2" marL="1371600" indent="-311040">
              <a:lnSpc>
                <a:spcPct val="115000"/>
              </a:lnSpc>
              <a:buClr>
                <a:srgbClr val="434343"/>
              </a:buClr>
              <a:buFont typeface="Roboto"/>
              <a:buAutoNum type="romanLcPeriod"/>
            </a:pPr>
            <a:r>
              <a:rPr b="0" lang="en" sz="1300" spc="-1" strike="noStrike">
                <a:solidFill>
                  <a:srgbClr val="434343"/>
                </a:solidFill>
                <a:latin typeface="Roboto"/>
                <a:ea typeface="Roboto"/>
              </a:rPr>
              <a:t>Previous research</a:t>
            </a:r>
            <a:endParaRPr b="0" lang="en-US" sz="1300" spc="-1" strike="noStrike">
              <a:latin typeface="Arial"/>
            </a:endParaRPr>
          </a:p>
          <a:p>
            <a:pPr lvl="1" marL="914400" indent="-31104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300" spc="-1" strike="noStrike">
                <a:solidFill>
                  <a:srgbClr val="434343"/>
                </a:solidFill>
                <a:latin typeface="Roboto"/>
                <a:ea typeface="Roboto"/>
              </a:rPr>
              <a:t>Define the knowledge gap</a:t>
            </a:r>
            <a:endParaRPr b="0" lang="en-US" sz="1300" spc="-1" strike="noStrike">
              <a:latin typeface="Arial"/>
            </a:endParaRPr>
          </a:p>
          <a:p>
            <a:pPr lvl="1" marL="914400" indent="-31104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300" spc="-1" strike="noStrike">
                <a:solidFill>
                  <a:srgbClr val="434343"/>
                </a:solidFill>
                <a:latin typeface="Roboto"/>
                <a:ea typeface="Roboto"/>
              </a:rPr>
              <a:t>Outline your objectives, hypotheses, or research questions</a:t>
            </a:r>
            <a:endParaRPr b="0" lang="en-US" sz="1300" spc="-1" strike="noStrike"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434343"/>
              </a:buClr>
              <a:buFont typeface="Roboto"/>
              <a:buAutoNum type="arabicPeriod"/>
            </a:pPr>
            <a:r>
              <a:rPr b="0" lang="en" sz="1800" spc="-1" strike="noStrike">
                <a:solidFill>
                  <a:srgbClr val="434343"/>
                </a:solidFill>
                <a:latin typeface="Roboto"/>
                <a:ea typeface="Roboto"/>
              </a:rPr>
              <a:t>Methods</a:t>
            </a:r>
            <a:endParaRPr b="0" lang="en-US" sz="18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Study site</a:t>
            </a:r>
            <a:endParaRPr b="0" lang="en-US" sz="14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Study population</a:t>
            </a:r>
            <a:endParaRPr b="0" lang="en-US" sz="14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Research steps</a:t>
            </a:r>
            <a:endParaRPr b="0" lang="en-US" sz="1400" spc="-1" strike="noStrike"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434343"/>
              </a:buClr>
              <a:buFont typeface="Roboto"/>
              <a:buAutoNum type="arabicPeriod"/>
            </a:pPr>
            <a:r>
              <a:rPr b="0" lang="en" sz="1800" spc="-1" strike="noStrike">
                <a:solidFill>
                  <a:srgbClr val="434343"/>
                </a:solidFill>
                <a:latin typeface="Roboto"/>
                <a:ea typeface="Roboto"/>
              </a:rPr>
              <a:t>Results</a:t>
            </a:r>
            <a:endParaRPr b="0" lang="en-US" sz="18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Follow the same layout as the methods section</a:t>
            </a:r>
            <a:endParaRPr b="0" lang="en-US" sz="1400" spc="-1" strike="noStrike"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434343"/>
              </a:buClr>
              <a:buFont typeface="Roboto"/>
              <a:buAutoNum type="arabicPeriod"/>
            </a:pPr>
            <a:r>
              <a:rPr b="0" lang="en" sz="1800" spc="-1" strike="noStrike">
                <a:solidFill>
                  <a:srgbClr val="434343"/>
                </a:solidFill>
                <a:latin typeface="Roboto"/>
                <a:ea typeface="Roboto"/>
              </a:rPr>
              <a:t>Discussion/Conclusion</a:t>
            </a:r>
            <a:endParaRPr b="0" lang="en-US" sz="18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link back to introduction, come full circle</a:t>
            </a:r>
            <a:endParaRPr b="0" lang="en-US" sz="14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How did this research fill a knowledge gap</a:t>
            </a:r>
            <a:endParaRPr b="0" lang="en-US" sz="1400" spc="-1" strike="noStrike">
              <a:latin typeface="Arial"/>
            </a:endParaRPr>
          </a:p>
        </p:txBody>
      </p:sp>
      <p:pic>
        <p:nvPicPr>
          <p:cNvPr id="253" name="Google Shape;449;p5" descr=""/>
          <p:cNvPicPr/>
          <p:nvPr/>
        </p:nvPicPr>
        <p:blipFill>
          <a:blip r:embed="rId1"/>
          <a:stretch/>
        </p:blipFill>
        <p:spPr>
          <a:xfrm>
            <a:off x="4635720" y="755280"/>
            <a:ext cx="4194000" cy="3047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311760" y="410040"/>
            <a:ext cx="8517960" cy="6051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000" spc="-1" strike="noStrike">
                <a:solidFill>
                  <a:srgbClr val="2a3990"/>
                </a:solidFill>
                <a:latin typeface="Roboto"/>
                <a:ea typeface="Roboto"/>
              </a:rPr>
              <a:t>Reverse Outlines: Produce an outline from a draft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255" name="PlaceHolder 2"/>
          <p:cNvSpPr>
            <a:spLocks noGrp="1"/>
          </p:cNvSpPr>
          <p:nvPr>
            <p:ph/>
          </p:nvPr>
        </p:nvSpPr>
        <p:spPr>
          <a:xfrm>
            <a:off x="311760" y="1229760"/>
            <a:ext cx="4257720" cy="33364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457200" indent="-343080">
              <a:lnSpc>
                <a:spcPct val="115000"/>
              </a:lnSpc>
              <a:buClr>
                <a:srgbClr val="434343"/>
              </a:buClr>
              <a:buFont typeface="Roboto"/>
              <a:buChar char="●"/>
            </a:pPr>
            <a:r>
              <a:rPr b="0" lang="en" sz="1800" spc="-1" strike="noStrike">
                <a:solidFill>
                  <a:srgbClr val="434343"/>
                </a:solidFill>
                <a:latin typeface="Roboto"/>
                <a:ea typeface="Roboto"/>
              </a:rPr>
              <a:t>Ideas evolve as you write, so sometimes a reverse outline may better suit your needs</a:t>
            </a:r>
            <a:endParaRPr b="0" lang="en-US" sz="18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Char char="○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If you write to think</a:t>
            </a:r>
            <a:endParaRPr b="0" lang="en-US" sz="1400" spc="-1" strike="noStrike"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434343"/>
              </a:buClr>
              <a:buFont typeface="Roboto"/>
              <a:buChar char="●"/>
            </a:pPr>
            <a:r>
              <a:rPr b="0" lang="en" sz="1800" spc="-1" strike="noStrike">
                <a:solidFill>
                  <a:srgbClr val="434343"/>
                </a:solidFill>
                <a:latin typeface="Roboto"/>
                <a:ea typeface="Roboto"/>
              </a:rPr>
              <a:t>Checks your organization</a:t>
            </a:r>
            <a:endParaRPr b="0" lang="en-US" sz="18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Char char="○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Identify main points to easily move sections around in your draft</a:t>
            </a:r>
            <a:endParaRPr b="0" lang="en-US" sz="1400" spc="-1" strike="noStrike"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434343"/>
              </a:buClr>
              <a:buFont typeface="Roboto"/>
              <a:buChar char="●"/>
            </a:pPr>
            <a:r>
              <a:rPr b="0" lang="en" sz="1800" spc="-1" strike="noStrike">
                <a:solidFill>
                  <a:srgbClr val="434343"/>
                </a:solidFill>
                <a:latin typeface="Roboto"/>
                <a:ea typeface="Roboto"/>
              </a:rPr>
              <a:t>You can do both! </a:t>
            </a:r>
            <a:endParaRPr b="0" lang="en-US" sz="18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Char char="○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Compare your reverse outline to your original outline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1599"/>
              </a:spcBef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434343"/>
                </a:solidFill>
                <a:latin typeface="Roboto"/>
                <a:ea typeface="Roboto"/>
              </a:rPr>
              <a:t> 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56" name="Google Shape;456;p6"/>
          <p:cNvSpPr/>
          <p:nvPr/>
        </p:nvSpPr>
        <p:spPr>
          <a:xfrm>
            <a:off x="4715280" y="1351440"/>
            <a:ext cx="1880640" cy="2590560"/>
          </a:xfrm>
          <a:prstGeom prst="rect">
            <a:avLst/>
          </a:prstGeom>
          <a:noFill/>
          <a:ln w="9525">
            <a:solidFill>
              <a:srgbClr val="4343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7" name="Google Shape;457;p6"/>
          <p:cNvSpPr/>
          <p:nvPr/>
        </p:nvSpPr>
        <p:spPr>
          <a:xfrm>
            <a:off x="4844520" y="1620360"/>
            <a:ext cx="15040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343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8" name="Google Shape;458;p6"/>
          <p:cNvSpPr/>
          <p:nvPr/>
        </p:nvSpPr>
        <p:spPr>
          <a:xfrm>
            <a:off x="5091840" y="1921680"/>
            <a:ext cx="125676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343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9" name="Google Shape;459;p6"/>
          <p:cNvSpPr/>
          <p:nvPr/>
        </p:nvSpPr>
        <p:spPr>
          <a:xfrm>
            <a:off x="4844520" y="2118960"/>
            <a:ext cx="15040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343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0" name="Google Shape;460;p6"/>
          <p:cNvSpPr/>
          <p:nvPr/>
        </p:nvSpPr>
        <p:spPr>
          <a:xfrm>
            <a:off x="4844520" y="2292840"/>
            <a:ext cx="15040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343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1" name="Google Shape;461;p6"/>
          <p:cNvSpPr/>
          <p:nvPr/>
        </p:nvSpPr>
        <p:spPr>
          <a:xfrm>
            <a:off x="4844520" y="2445480"/>
            <a:ext cx="15040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343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2" name="Google Shape;462;p6"/>
          <p:cNvSpPr/>
          <p:nvPr/>
        </p:nvSpPr>
        <p:spPr>
          <a:xfrm>
            <a:off x="5091840" y="2597760"/>
            <a:ext cx="125676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343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3" name="Google Shape;463;p6"/>
          <p:cNvSpPr/>
          <p:nvPr/>
        </p:nvSpPr>
        <p:spPr>
          <a:xfrm>
            <a:off x="4844520" y="2795040"/>
            <a:ext cx="15040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343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4" name="Google Shape;464;p6"/>
          <p:cNvSpPr/>
          <p:nvPr/>
        </p:nvSpPr>
        <p:spPr>
          <a:xfrm>
            <a:off x="4844520" y="2968920"/>
            <a:ext cx="15040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343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5" name="Google Shape;465;p6"/>
          <p:cNvSpPr/>
          <p:nvPr/>
        </p:nvSpPr>
        <p:spPr>
          <a:xfrm>
            <a:off x="4844520" y="3121200"/>
            <a:ext cx="15040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343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6" name="Google Shape;466;p6"/>
          <p:cNvSpPr/>
          <p:nvPr/>
        </p:nvSpPr>
        <p:spPr>
          <a:xfrm>
            <a:off x="5091840" y="3273480"/>
            <a:ext cx="125676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343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7" name="Google Shape;467;p6"/>
          <p:cNvSpPr/>
          <p:nvPr/>
        </p:nvSpPr>
        <p:spPr>
          <a:xfrm>
            <a:off x="4844520" y="3470760"/>
            <a:ext cx="15040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343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8" name="Google Shape;468;p6"/>
          <p:cNvSpPr/>
          <p:nvPr/>
        </p:nvSpPr>
        <p:spPr>
          <a:xfrm>
            <a:off x="4844520" y="3644640"/>
            <a:ext cx="15040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343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9" name="Google Shape;469;p6"/>
          <p:cNvSpPr/>
          <p:nvPr/>
        </p:nvSpPr>
        <p:spPr>
          <a:xfrm>
            <a:off x="4844520" y="3797280"/>
            <a:ext cx="15040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343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0" name="Google Shape;470;p6"/>
          <p:cNvSpPr/>
          <p:nvPr/>
        </p:nvSpPr>
        <p:spPr>
          <a:xfrm>
            <a:off x="6469200" y="1932480"/>
            <a:ext cx="739800" cy="503280"/>
          </a:xfrm>
          <a:custGeom>
            <a:avLst/>
            <a:gdLst/>
            <a:ahLst/>
            <a:rect l="l" t="t" r="r" b="b"/>
            <a:pathLst>
              <a:path w="24533" h="20230">
                <a:moveTo>
                  <a:pt x="430" y="0"/>
                </a:moveTo>
                <a:lnTo>
                  <a:pt x="24533" y="8178"/>
                </a:lnTo>
                <a:lnTo>
                  <a:pt x="0" y="20230"/>
                </a:lnTo>
              </a:path>
            </a:pathLst>
          </a:custGeom>
          <a:noFill/>
          <a:ln w="28575">
            <a:solidFill>
              <a:srgbClr val="9c254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1" name="Google Shape;471;p6"/>
          <p:cNvSpPr/>
          <p:nvPr/>
        </p:nvSpPr>
        <p:spPr>
          <a:xfrm>
            <a:off x="7329960" y="1787040"/>
            <a:ext cx="1342800" cy="50328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noFill/>
          <a:ln w="9525">
            <a:solidFill>
              <a:srgbClr val="434343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2" name="Google Shape;472;p6"/>
          <p:cNvSpPr/>
          <p:nvPr/>
        </p:nvSpPr>
        <p:spPr>
          <a:xfrm>
            <a:off x="6469200" y="2630520"/>
            <a:ext cx="739800" cy="503280"/>
          </a:xfrm>
          <a:custGeom>
            <a:avLst/>
            <a:gdLst/>
            <a:ahLst/>
            <a:rect l="l" t="t" r="r" b="b"/>
            <a:pathLst>
              <a:path w="24533" h="20230">
                <a:moveTo>
                  <a:pt x="430" y="0"/>
                </a:moveTo>
                <a:lnTo>
                  <a:pt x="24533" y="8178"/>
                </a:lnTo>
                <a:lnTo>
                  <a:pt x="0" y="20230"/>
                </a:lnTo>
              </a:path>
            </a:pathLst>
          </a:custGeom>
          <a:noFill/>
          <a:ln w="28575">
            <a:solidFill>
              <a:srgbClr val="9c254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3" name="Google Shape;473;p6"/>
          <p:cNvSpPr/>
          <p:nvPr/>
        </p:nvSpPr>
        <p:spPr>
          <a:xfrm>
            <a:off x="7329960" y="2587680"/>
            <a:ext cx="1342800" cy="50328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noFill/>
          <a:ln w="9525">
            <a:solidFill>
              <a:srgbClr val="434343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4" name="Google Shape;474;p6"/>
          <p:cNvSpPr/>
          <p:nvPr/>
        </p:nvSpPr>
        <p:spPr>
          <a:xfrm>
            <a:off x="6469200" y="3328560"/>
            <a:ext cx="739800" cy="503280"/>
          </a:xfrm>
          <a:custGeom>
            <a:avLst/>
            <a:gdLst/>
            <a:ahLst/>
            <a:rect l="l" t="t" r="r" b="b"/>
            <a:pathLst>
              <a:path w="24533" h="20230">
                <a:moveTo>
                  <a:pt x="430" y="0"/>
                </a:moveTo>
                <a:lnTo>
                  <a:pt x="24533" y="8178"/>
                </a:lnTo>
                <a:lnTo>
                  <a:pt x="0" y="20230"/>
                </a:lnTo>
              </a:path>
            </a:pathLst>
          </a:custGeom>
          <a:noFill/>
          <a:ln w="28575">
            <a:solidFill>
              <a:srgbClr val="9c254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5" name="Google Shape;475;p6"/>
          <p:cNvSpPr/>
          <p:nvPr/>
        </p:nvSpPr>
        <p:spPr>
          <a:xfrm>
            <a:off x="7329960" y="3210840"/>
            <a:ext cx="1342800" cy="50328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noFill/>
          <a:ln w="9525">
            <a:solidFill>
              <a:srgbClr val="434343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title"/>
          </p:nvPr>
        </p:nvSpPr>
        <p:spPr>
          <a:xfrm>
            <a:off x="265680" y="1151280"/>
            <a:ext cx="4042800" cy="156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b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200" spc="-1" strike="noStrike">
                <a:solidFill>
                  <a:srgbClr val="2a3990"/>
                </a:solidFill>
                <a:latin typeface="Roboto"/>
                <a:ea typeface="Roboto"/>
              </a:rPr>
              <a:t>Using Graphic Organizers</a:t>
            </a:r>
            <a:endParaRPr b="0" lang="en-US" sz="4200" spc="-1" strike="noStrike">
              <a:latin typeface="Arial"/>
            </a:endParaRPr>
          </a:p>
        </p:txBody>
      </p:sp>
      <p:sp>
        <p:nvSpPr>
          <p:cNvPr id="277" name="PlaceHolder 2"/>
          <p:cNvSpPr>
            <a:spLocks noGrp="1"/>
          </p:cNvSpPr>
          <p:nvPr>
            <p:ph type="subTitle"/>
          </p:nvPr>
        </p:nvSpPr>
        <p:spPr>
          <a:xfrm>
            <a:off x="265680" y="2769120"/>
            <a:ext cx="4042800" cy="1266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100" spc="-1" strike="noStrike">
                <a:solidFill>
                  <a:srgbClr val="434343"/>
                </a:solidFill>
                <a:latin typeface="Roboto"/>
                <a:ea typeface="Roboto"/>
              </a:rPr>
              <a:t>Visual Strategies for Outlining</a:t>
            </a:r>
            <a:endParaRPr b="0" lang="en-US" sz="2100" spc="-1" strike="noStrike">
              <a:latin typeface="Arial"/>
            </a:endParaRPr>
          </a:p>
        </p:txBody>
      </p:sp>
      <p:sp>
        <p:nvSpPr>
          <p:cNvPr id="278" name="Google Shape;482;p7"/>
          <p:cNvSpPr/>
          <p:nvPr/>
        </p:nvSpPr>
        <p:spPr>
          <a:xfrm>
            <a:off x="5199480" y="1028880"/>
            <a:ext cx="3225600" cy="309600"/>
          </a:xfrm>
          <a:prstGeom prst="rect">
            <a:avLst/>
          </a:prstGeom>
          <a:noFill/>
          <a:ln w="38100">
            <a:solidFill>
              <a:srgbClr val="7890c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10320" bIns="31032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7890cd"/>
                </a:solidFill>
                <a:latin typeface="Arial"/>
                <a:ea typeface="Arial"/>
              </a:rPr>
              <a:t>1.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79" name="Google Shape;483;p7"/>
          <p:cNvSpPr/>
          <p:nvPr/>
        </p:nvSpPr>
        <p:spPr>
          <a:xfrm>
            <a:off x="5586840" y="1536120"/>
            <a:ext cx="2838240" cy="309600"/>
          </a:xfrm>
          <a:prstGeom prst="rect">
            <a:avLst/>
          </a:prstGeom>
          <a:noFill/>
          <a:ln w="38100">
            <a:solidFill>
              <a:srgbClr val="7890c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10320" bIns="31032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7890cd"/>
                </a:solidFill>
                <a:latin typeface="Arial"/>
                <a:ea typeface="Arial"/>
              </a:rPr>
              <a:t>a)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80" name="Google Shape;484;p7"/>
          <p:cNvSpPr/>
          <p:nvPr/>
        </p:nvSpPr>
        <p:spPr>
          <a:xfrm>
            <a:off x="5586840" y="2043720"/>
            <a:ext cx="2838240" cy="309600"/>
          </a:xfrm>
          <a:prstGeom prst="rect">
            <a:avLst/>
          </a:prstGeom>
          <a:noFill/>
          <a:ln w="38100">
            <a:solidFill>
              <a:srgbClr val="7890c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10320" bIns="31032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7890cd"/>
                </a:solidFill>
                <a:latin typeface="Arial"/>
                <a:ea typeface="Arial"/>
              </a:rPr>
              <a:t>b)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81" name="Google Shape;485;p7"/>
          <p:cNvSpPr/>
          <p:nvPr/>
        </p:nvSpPr>
        <p:spPr>
          <a:xfrm>
            <a:off x="5145480" y="2769120"/>
            <a:ext cx="2149560" cy="1625400"/>
          </a:xfrm>
          <a:prstGeom prst="ellipse">
            <a:avLst/>
          </a:prstGeom>
          <a:noFill/>
          <a:ln w="38100">
            <a:solidFill>
              <a:srgbClr val="f0629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2" name="Google Shape;486;p7"/>
          <p:cNvSpPr/>
          <p:nvPr/>
        </p:nvSpPr>
        <p:spPr>
          <a:xfrm>
            <a:off x="6404760" y="2768760"/>
            <a:ext cx="2020320" cy="1625400"/>
          </a:xfrm>
          <a:prstGeom prst="ellipse">
            <a:avLst/>
          </a:prstGeom>
          <a:noFill/>
          <a:ln w="38100">
            <a:solidFill>
              <a:srgbClr val="f06292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title"/>
          </p:nvPr>
        </p:nvSpPr>
        <p:spPr>
          <a:xfrm>
            <a:off x="2634480" y="100080"/>
            <a:ext cx="6507000" cy="85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400" spc="-1" strike="noStrike">
                <a:solidFill>
                  <a:srgbClr val="000000"/>
                </a:solidFill>
                <a:latin typeface="Roboto"/>
                <a:ea typeface="Roboto"/>
              </a:rPr>
              <a:t>Sequence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84" name="PlaceHolder 2"/>
          <p:cNvSpPr>
            <a:spLocks noGrp="1"/>
          </p:cNvSpPr>
          <p:nvPr>
            <p:ph/>
          </p:nvPr>
        </p:nvSpPr>
        <p:spPr>
          <a:xfrm>
            <a:off x="3884040" y="1200240"/>
            <a:ext cx="4799880" cy="3170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57200" indent="-431640">
              <a:lnSpc>
                <a:spcPct val="100000"/>
              </a:lnSpc>
              <a:buClr>
                <a:srgbClr val="000000"/>
              </a:buClr>
              <a:buFont typeface="Roboto"/>
              <a:buChar char="•"/>
            </a:pPr>
            <a:r>
              <a:rPr b="0" lang="en" sz="3200" spc="-1" strike="noStrike">
                <a:solidFill>
                  <a:srgbClr val="000000"/>
                </a:solidFill>
                <a:latin typeface="Roboto"/>
                <a:ea typeface="Roboto"/>
              </a:rPr>
              <a:t>Order events</a:t>
            </a:r>
            <a:endParaRPr b="0" lang="en-US" sz="3200" spc="-1" strike="noStrike">
              <a:latin typeface="Arial"/>
            </a:endParaRPr>
          </a:p>
          <a:p>
            <a:pPr marL="457200" indent="-431640">
              <a:lnSpc>
                <a:spcPct val="100000"/>
              </a:lnSpc>
              <a:buClr>
                <a:srgbClr val="000000"/>
              </a:buClr>
              <a:buFont typeface="Roboto"/>
              <a:buChar char="•"/>
            </a:pPr>
            <a:r>
              <a:rPr b="0" lang="en" sz="3200" spc="-1" strike="noStrike">
                <a:solidFill>
                  <a:srgbClr val="000000"/>
                </a:solidFill>
                <a:latin typeface="Roboto"/>
                <a:ea typeface="Roboto"/>
              </a:rPr>
              <a:t>Timeline of events </a:t>
            </a:r>
            <a:endParaRPr b="0" lang="en-US" sz="3200" spc="-1" strike="noStrike">
              <a:latin typeface="Arial"/>
            </a:endParaRPr>
          </a:p>
          <a:p>
            <a:pPr marL="457200" indent="-431640">
              <a:lnSpc>
                <a:spcPct val="100000"/>
              </a:lnSpc>
              <a:buClr>
                <a:srgbClr val="000000"/>
              </a:buClr>
              <a:buFont typeface="Roboto"/>
              <a:buChar char="•"/>
            </a:pPr>
            <a:r>
              <a:rPr b="0" lang="en" sz="3200" spc="-1" strike="noStrike">
                <a:solidFill>
                  <a:srgbClr val="000000"/>
                </a:solidFill>
                <a:latin typeface="Roboto"/>
                <a:ea typeface="Roboto"/>
              </a:rPr>
              <a:t>Steps in a process</a:t>
            </a:r>
            <a:endParaRPr b="0" lang="en-US" sz="3200" spc="-1" strike="noStrike">
              <a:latin typeface="Arial"/>
            </a:endParaRPr>
          </a:p>
          <a:p>
            <a:pPr marL="457200" indent="-431640">
              <a:lnSpc>
                <a:spcPct val="100000"/>
              </a:lnSpc>
              <a:buClr>
                <a:srgbClr val="000000"/>
              </a:buClr>
              <a:buFont typeface="Roboto"/>
              <a:buChar char="•"/>
            </a:pPr>
            <a:r>
              <a:rPr b="0" lang="en" sz="3200" spc="-1" strike="noStrike">
                <a:solidFill>
                  <a:srgbClr val="000000"/>
                </a:solidFill>
                <a:latin typeface="Roboto"/>
                <a:ea typeface="Roboto"/>
              </a:rPr>
              <a:t>Relationship between cause &amp; effect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285" name="Google Shape;493;p8" descr=""/>
          <p:cNvPicPr/>
          <p:nvPr/>
        </p:nvPicPr>
        <p:blipFill>
          <a:blip r:embed="rId1"/>
          <a:stretch/>
        </p:blipFill>
        <p:spPr>
          <a:xfrm>
            <a:off x="553320" y="308520"/>
            <a:ext cx="3328560" cy="4256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708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400" spc="-1" strike="noStrike">
                <a:solidFill>
                  <a:srgbClr val="000000"/>
                </a:solidFill>
                <a:latin typeface="Roboto"/>
                <a:ea typeface="Roboto"/>
              </a:rPr>
              <a:t>Story Map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87" name="PlaceHolder 2"/>
          <p:cNvSpPr>
            <a:spLocks noGrp="1"/>
          </p:cNvSpPr>
          <p:nvPr>
            <p:ph/>
          </p:nvPr>
        </p:nvSpPr>
        <p:spPr>
          <a:xfrm>
            <a:off x="1365480" y="2290320"/>
            <a:ext cx="3128040" cy="230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/>
          </p:nvPr>
        </p:nvSpPr>
        <p:spPr>
          <a:xfrm>
            <a:off x="4648320" y="1200240"/>
            <a:ext cx="4035960" cy="339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57200" indent="-406440">
              <a:lnSpc>
                <a:spcPct val="100000"/>
              </a:lnSpc>
              <a:buClr>
                <a:srgbClr val="000000"/>
              </a:buClr>
              <a:buFont typeface="Roboto Light"/>
              <a:buChar char="•"/>
            </a:pPr>
            <a:r>
              <a:rPr b="0" lang="en" sz="2800" spc="-1" strike="noStrike">
                <a:solidFill>
                  <a:srgbClr val="000000"/>
                </a:solidFill>
                <a:latin typeface="Roboto Light"/>
                <a:ea typeface="Roboto Light"/>
              </a:rPr>
              <a:t>Helps students identify &amp; examine different parts of the reading</a:t>
            </a:r>
            <a:endParaRPr b="0" lang="en-US" sz="2800" spc="-1" strike="noStrike">
              <a:latin typeface="Arial"/>
            </a:endParaRPr>
          </a:p>
          <a:p>
            <a:pPr marL="457200" indent="-406440">
              <a:lnSpc>
                <a:spcPct val="100000"/>
              </a:lnSpc>
              <a:buClr>
                <a:srgbClr val="000000"/>
              </a:buClr>
              <a:buFont typeface="Roboto Light"/>
              <a:buChar char="•"/>
            </a:pPr>
            <a:r>
              <a:rPr b="0" lang="en" sz="2800" spc="-1" strike="noStrike">
                <a:solidFill>
                  <a:srgbClr val="000000"/>
                </a:solidFill>
                <a:latin typeface="Roboto Light"/>
                <a:ea typeface="Roboto Light"/>
              </a:rPr>
              <a:t>Non-fiction and fiction</a:t>
            </a:r>
            <a:endParaRPr b="0" lang="en-US" sz="2800" spc="-1" strike="noStrike">
              <a:latin typeface="Arial"/>
            </a:endParaRPr>
          </a:p>
          <a:p>
            <a:pPr marL="457200" indent="-406440">
              <a:lnSpc>
                <a:spcPct val="100000"/>
              </a:lnSpc>
              <a:buClr>
                <a:srgbClr val="000000"/>
              </a:buClr>
              <a:buFont typeface="Roboto Light"/>
              <a:buChar char="•"/>
            </a:pPr>
            <a:r>
              <a:rPr b="0" lang="en" sz="2800" spc="-1" strike="noStrike">
                <a:solidFill>
                  <a:srgbClr val="000000"/>
                </a:solidFill>
                <a:latin typeface="Roboto Light"/>
                <a:ea typeface="Roboto Light"/>
              </a:rPr>
              <a:t>Learn to summarize the reading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289" name="Google Shape;501;p9" descr=""/>
          <p:cNvPicPr/>
          <p:nvPr/>
        </p:nvPicPr>
        <p:blipFill>
          <a:blip r:embed="rId1"/>
          <a:stretch/>
        </p:blipFill>
        <p:spPr>
          <a:xfrm>
            <a:off x="386640" y="1200240"/>
            <a:ext cx="4035960" cy="3112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7080" cy="85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400" spc="-1" strike="noStrike">
                <a:solidFill>
                  <a:srgbClr val="000000"/>
                </a:solidFill>
                <a:latin typeface="Roboto"/>
                <a:ea typeface="Roboto"/>
              </a:rPr>
              <a:t>Compare &amp; Contrast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91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4672080" cy="3391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57200" indent="-431640">
              <a:lnSpc>
                <a:spcPct val="100000"/>
              </a:lnSpc>
              <a:buClr>
                <a:srgbClr val="000000"/>
              </a:buClr>
              <a:buFont typeface="Roboto Light"/>
              <a:buChar char="•"/>
            </a:pPr>
            <a:r>
              <a:rPr b="0" lang="en" sz="3200" spc="-1" strike="noStrike">
                <a:solidFill>
                  <a:srgbClr val="000000"/>
                </a:solidFill>
                <a:latin typeface="Roboto Light"/>
                <a:ea typeface="Roboto Light"/>
              </a:rPr>
              <a:t>How are they alike</a:t>
            </a:r>
            <a:endParaRPr b="0" lang="en-US" sz="3200" spc="-1" strike="noStrike">
              <a:latin typeface="Arial"/>
            </a:endParaRPr>
          </a:p>
          <a:p>
            <a:pPr marL="457200" indent="-431640">
              <a:lnSpc>
                <a:spcPct val="100000"/>
              </a:lnSpc>
              <a:buClr>
                <a:srgbClr val="000000"/>
              </a:buClr>
              <a:buFont typeface="Roboto Light"/>
              <a:buChar char="•"/>
            </a:pPr>
            <a:r>
              <a:rPr b="0" lang="en" sz="3200" spc="-1" strike="noStrike">
                <a:solidFill>
                  <a:srgbClr val="000000"/>
                </a:solidFill>
                <a:latin typeface="Roboto Light"/>
                <a:ea typeface="Roboto Light"/>
              </a:rPr>
              <a:t>How are they different</a:t>
            </a:r>
            <a:endParaRPr b="0" lang="en-US" sz="3200" spc="-1" strike="noStrike">
              <a:latin typeface="Arial"/>
            </a:endParaRPr>
          </a:p>
          <a:p>
            <a:pPr marL="457200" indent="-431640">
              <a:lnSpc>
                <a:spcPct val="100000"/>
              </a:lnSpc>
              <a:buClr>
                <a:srgbClr val="000000"/>
              </a:buClr>
              <a:buFont typeface="Roboto Light"/>
              <a:buChar char="•"/>
            </a:pPr>
            <a:r>
              <a:rPr b="0" lang="en" sz="3200" spc="-1" strike="noStrike">
                <a:solidFill>
                  <a:srgbClr val="000000"/>
                </a:solidFill>
                <a:latin typeface="Roboto Light"/>
                <a:ea typeface="Roboto Light"/>
              </a:rPr>
              <a:t>Where circles overlap, </a:t>
            </a:r>
            <a:endParaRPr b="0" lang="en-US" sz="3200" spc="-1" strike="noStrike">
              <a:latin typeface="Arial"/>
            </a:endParaRPr>
          </a:p>
          <a:p>
            <a:pPr marL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" sz="3200" spc="-1" strike="noStrike">
                <a:solidFill>
                  <a:srgbClr val="000000"/>
                </a:solidFill>
                <a:latin typeface="Roboto Light"/>
                <a:ea typeface="Roboto Light"/>
              </a:rPr>
              <a:t>similarities</a:t>
            </a:r>
            <a:endParaRPr b="0" lang="en-US" sz="3200" spc="-1" strike="noStrike">
              <a:latin typeface="Arial"/>
            </a:endParaRPr>
          </a:p>
          <a:p>
            <a:pPr marL="457200" indent="-43164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Roboto Light"/>
              <a:buChar char="•"/>
              <a:tabLst>
                <a:tab algn="l" pos="0"/>
              </a:tabLst>
            </a:pPr>
            <a:r>
              <a:rPr b="0" lang="en" sz="3200" spc="-1" strike="noStrike">
                <a:solidFill>
                  <a:srgbClr val="000000"/>
                </a:solidFill>
                <a:latin typeface="Roboto Light"/>
                <a:ea typeface="Roboto Light"/>
              </a:rPr>
              <a:t>Venn Diagram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292" name="Google Shape;508;p10" descr=""/>
          <p:cNvPicPr/>
          <p:nvPr/>
        </p:nvPicPr>
        <p:blipFill>
          <a:blip r:embed="rId1"/>
          <a:stretch/>
        </p:blipFill>
        <p:spPr>
          <a:xfrm>
            <a:off x="4752720" y="953280"/>
            <a:ext cx="4388760" cy="3391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Vanessa</dc:creator>
  <dc:description/>
  <dc:language>en-HK</dc:language>
  <cp:lastModifiedBy/>
  <dcterms:modified xsi:type="dcterms:W3CDTF">2026-09-06T09:31:56Z</dcterms:modified>
  <cp:revision>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全屏显示(16:9)</vt:lpwstr>
  </property>
  <property fmtid="{D5CDD505-2E9C-101B-9397-08002B2CF9AE}" pid="4" name="Slides">
    <vt:i4>10</vt:i4>
  </property>
</Properties>
</file>