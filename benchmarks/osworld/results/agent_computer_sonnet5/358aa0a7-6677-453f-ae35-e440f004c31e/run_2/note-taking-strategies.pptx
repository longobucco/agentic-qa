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2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7.xml.rels" ContentType="application/vnd.openxmlformats-package.relationships+xml"/>
  <Override PartName="/ppt/notesSlides/_rels/notesSlide21.xml.rels" ContentType="application/vnd.openxmlformats-package.relationships+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9.jpeg" ContentType="image/jpeg"/>
  <Override PartName="/ppt/media/image11.jpeg" ContentType="image/jpeg"/>
  <Override PartName="/ppt/media/image8.png" ContentType="image/png"/>
  <Override PartName="/ppt/media/image7.png" ContentType="image/png"/>
  <Override PartName="/ppt/media/image1.jpeg" ContentType="image/jpeg"/>
  <Override PartName="/ppt/media/image12.jpeg" ContentType="image/jpeg"/>
  <Override PartName="/ppt/media/image6.png" ContentType="image/png"/>
  <Override PartName="/ppt/media/image10.jpeg" ContentType="image/jpeg"/>
  <Override PartName="/ppt/media/image25.gif" ContentType="image/gif"/>
  <Override PartName="/ppt/media/image5.jpeg" ContentType="image/jpeg"/>
  <Override PartName="/ppt/media/image13.jpeg" ContentType="image/jpeg"/>
  <Override PartName="/ppt/media/image23.png" ContentType="image/png"/>
  <Override PartName="/ppt/media/image4.png" ContentType="image/png"/>
  <Override PartName="/ppt/media/image26.png" ContentType="image/png"/>
  <Override PartName="/ppt/media/image14.png" ContentType="image/png"/>
  <Override PartName="/ppt/media/image22.png" ContentType="image/png"/>
  <Override PartName="/ppt/media/image21.jpeg" ContentType="image/jpeg"/>
  <Override PartName="/ppt/media/image16.jpeg" ContentType="image/jpeg"/>
  <Override PartName="/ppt/media/image20.png" ContentType="image/png"/>
  <Override PartName="/ppt/media/image2.jpeg" ContentType="image/jpeg"/>
  <Override PartName="/ppt/media/image19.png" ContentType="image/png"/>
  <Override PartName="/ppt/media/image18.jpeg" ContentType="image/jpeg"/>
  <Override PartName="/ppt/media/image17.png" ContentType="image/png"/>
  <Override PartName="/ppt/media/image24.jpeg" ContentType="image/jpeg"/>
  <Override PartName="/ppt/media/image3.jpeg" ContentType="image/jpeg"/>
  <Override PartName="/ppt/media/image1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p:notesSz cx="6954838" cy="93091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1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78"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79"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80"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81"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51428492-1EF9-407C-919F-B6AAEA9329E2}"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50920" y="698400"/>
            <a:ext cx="4651920" cy="3489840"/>
          </a:xfrm>
          <a:prstGeom prst="rect">
            <a:avLst/>
          </a:prstGeom>
          <a:ln w="0">
            <a:noFill/>
          </a:ln>
        </p:spPr>
      </p:sp>
      <p:sp>
        <p:nvSpPr>
          <p:cNvPr id="25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58" name="PlaceHolder 3"/>
          <p:cNvSpPr>
            <a:spLocks noGrp="1"/>
          </p:cNvSpPr>
          <p:nvPr>
            <p:ph type="sldNum" idx="1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B018D15-4C43-4641-A3D3-B15BE45AAB38}" type="slidenum">
              <a:rPr b="0" lang="en-US" sz="1400" spc="-1" strike="noStrike">
                <a:latin typeface="Times New Roman"/>
              </a:rPr>
              <a:t>&lt;number&gt;</a:t>
            </a:fld>
            <a:endParaRPr b="0" lang="en-US" sz="1400" spc="-1" strike="noStrike">
              <a:latin typeface="Times New Roman"/>
            </a:endParaRPr>
          </a:p>
        </p:txBody>
      </p:sp>
      <p:sp>
        <p:nvSpPr>
          <p:cNvPr id="259" name="PlaceHolder 4"/>
          <p:cNvSpPr>
            <a:spLocks noGrp="1"/>
          </p:cNvSpPr>
          <p:nvPr>
            <p:ph type="dt" idx="1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50920" y="698400"/>
            <a:ext cx="4651920" cy="3489840"/>
          </a:xfrm>
          <a:prstGeom prst="rect">
            <a:avLst/>
          </a:prstGeom>
          <a:ln w="0">
            <a:noFill/>
          </a:ln>
        </p:spPr>
      </p:sp>
      <p:sp>
        <p:nvSpPr>
          <p:cNvPr id="26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Four areas we will cover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Format of Workshop</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it to be interactive, and I would encourage discussions about topics in the slides. Feel free to give comments and opinions.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Shout out questions, or if you feel uncomfortable raise hand at any time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this to be beneficial to you- if there are questions you have about note taking that I do not cover please feel free to ask</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Encourage you to take notes on this workshop on ppt print out I provided you- an exercise in note taking, at the end I can look them over and give you feedback</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Information in this workshop is drawn from questions that my students have asked me about note taking over the years, my own experience as a student and tutor, information from other PI staff members.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endParaRPr b="0" lang="en-US" sz="1200" spc="-1" strike="noStrike">
              <a:latin typeface="Arial"/>
            </a:endParaRPr>
          </a:p>
        </p:txBody>
      </p:sp>
      <p:sp>
        <p:nvSpPr>
          <p:cNvPr id="262" name="PlaceHolder 3"/>
          <p:cNvSpPr>
            <a:spLocks noGrp="1"/>
          </p:cNvSpPr>
          <p:nvPr>
            <p:ph type="sldNum" idx="1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2F8EE45-3D3E-403A-86AC-7ABA772C890B}" type="slidenum">
              <a:rPr b="0" lang="en-US" sz="1400" spc="-1" strike="noStrike">
                <a:latin typeface="Times New Roman"/>
              </a:rPr>
              <a:t>&lt;number&gt;</a:t>
            </a:fld>
            <a:endParaRPr b="0" lang="en-US" sz="1400" spc="-1" strike="noStrike">
              <a:latin typeface="Times New Roman"/>
            </a:endParaRPr>
          </a:p>
        </p:txBody>
      </p:sp>
      <p:sp>
        <p:nvSpPr>
          <p:cNvPr id="263" name="PlaceHolder 4"/>
          <p:cNvSpPr>
            <a:spLocks noGrp="1"/>
          </p:cNvSpPr>
          <p:nvPr>
            <p:ph type="dt" idx="1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50920" y="698400"/>
            <a:ext cx="4651920" cy="3489840"/>
          </a:xfrm>
          <a:prstGeom prst="rect">
            <a:avLst/>
          </a:prstGeom>
          <a:ln w="0">
            <a:noFill/>
          </a:ln>
        </p:spPr>
      </p:sp>
      <p:sp>
        <p:nvSpPr>
          <p:cNvPr id="26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Common questions students have about note taking from a lecture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Are there any questions you have about note taking that aren’t up there?</a:t>
            </a:r>
            <a:endParaRPr b="0" lang="en-US" sz="1200" spc="-1" strike="noStrike">
              <a:latin typeface="Arial"/>
            </a:endParaRPr>
          </a:p>
        </p:txBody>
      </p:sp>
      <p:sp>
        <p:nvSpPr>
          <p:cNvPr id="266" name="PlaceHolder 3"/>
          <p:cNvSpPr>
            <a:spLocks noGrp="1"/>
          </p:cNvSpPr>
          <p:nvPr>
            <p:ph type="sldNum" idx="2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77EE561-E843-423E-81AE-B54FF865818E}" type="slidenum">
              <a:rPr b="0" lang="en-US" sz="1400" spc="-1" strike="noStrike">
                <a:latin typeface="Times New Roman"/>
              </a:rPr>
              <a:t>&lt;number&gt;</a:t>
            </a:fld>
            <a:endParaRPr b="0" lang="en-US" sz="1400" spc="-1" strike="noStrike">
              <a:latin typeface="Times New Roman"/>
            </a:endParaRPr>
          </a:p>
        </p:txBody>
      </p:sp>
      <p:sp>
        <p:nvSpPr>
          <p:cNvPr id="267" name="PlaceHolder 4"/>
          <p:cNvSpPr>
            <a:spLocks noGrp="1"/>
          </p:cNvSpPr>
          <p:nvPr>
            <p:ph type="dt" idx="2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50920" y="698400"/>
            <a:ext cx="4651920" cy="3489840"/>
          </a:xfrm>
          <a:prstGeom prst="rect">
            <a:avLst/>
          </a:prstGeom>
          <a:ln w="0">
            <a:noFill/>
          </a:ln>
        </p:spPr>
      </p:sp>
      <p:sp>
        <p:nvSpPr>
          <p:cNvPr id="26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70" name="PlaceHolder 3"/>
          <p:cNvSpPr>
            <a:spLocks noGrp="1"/>
          </p:cNvSpPr>
          <p:nvPr>
            <p:ph type="sldNum" idx="2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CEFFF46-398D-4B17-9A49-70FA379B9DD6}" type="slidenum">
              <a:rPr b="0" lang="en-US" sz="1400" spc="-1" strike="noStrike">
                <a:latin typeface="Times New Roman"/>
              </a:rPr>
              <a:t>&lt;number&gt;</a:t>
            </a:fld>
            <a:endParaRPr b="0" lang="en-US" sz="1400" spc="-1" strike="noStrike">
              <a:latin typeface="Times New Roman"/>
            </a:endParaRPr>
          </a:p>
        </p:txBody>
      </p:sp>
      <p:sp>
        <p:nvSpPr>
          <p:cNvPr id="271" name="PlaceHolder 4"/>
          <p:cNvSpPr>
            <a:spLocks noGrp="1"/>
          </p:cNvSpPr>
          <p:nvPr>
            <p:ph type="dt" idx="2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50920" y="698400"/>
            <a:ext cx="4651920" cy="3489840"/>
          </a:xfrm>
          <a:prstGeom prst="rect">
            <a:avLst/>
          </a:prstGeom>
          <a:ln w="0">
            <a:noFill/>
          </a:ln>
        </p:spPr>
      </p:sp>
      <p:sp>
        <p:nvSpPr>
          <p:cNvPr id="27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Benefits of Typing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Many of us can type faster than we can write- this allows us to copy down more of what the professor says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Typed notes are great because they are easy to re-format. For ex: You can easily insert Roman numerals to make it into an outline.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key terms into their own document and print them out as flashcards.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and paste certain information into a “study guide” from many different lectures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easily save multiple copies, so you won’t lose them.</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Easy to email to friends who have missed a class</a:t>
            </a: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Benefits of Writing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More likely to commit things to long term memory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Don’t have to carry a laptop</a:t>
            </a:r>
            <a:endParaRPr b="0" lang="en-US" sz="1200" spc="-1" strike="noStrike">
              <a:latin typeface="Arial"/>
            </a:endParaRPr>
          </a:p>
        </p:txBody>
      </p:sp>
      <p:sp>
        <p:nvSpPr>
          <p:cNvPr id="274" name="PlaceHolder 3"/>
          <p:cNvSpPr>
            <a:spLocks noGrp="1"/>
          </p:cNvSpPr>
          <p:nvPr>
            <p:ph type="sldNum" idx="2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79664D5-A047-45BA-98AE-40CC204984FD}" type="slidenum">
              <a:rPr b="0" lang="en-US" sz="1400" spc="-1" strike="noStrike">
                <a:latin typeface="Times New Roman"/>
              </a:rPr>
              <a:t>&lt;number&gt;</a:t>
            </a:fld>
            <a:endParaRPr b="0" lang="en-US" sz="1400" spc="-1" strike="noStrike">
              <a:latin typeface="Times New Roman"/>
            </a:endParaRPr>
          </a:p>
        </p:txBody>
      </p:sp>
      <p:sp>
        <p:nvSpPr>
          <p:cNvPr id="275" name="PlaceHolder 4"/>
          <p:cNvSpPr>
            <a:spLocks noGrp="1"/>
          </p:cNvSpPr>
          <p:nvPr>
            <p:ph type="dt" idx="2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50920" y="698400"/>
            <a:ext cx="4651920" cy="3489840"/>
          </a:xfrm>
          <a:prstGeom prst="rect">
            <a:avLst/>
          </a:prstGeom>
          <a:ln w="0">
            <a:noFill/>
          </a:ln>
        </p:spPr>
      </p:sp>
      <p:sp>
        <p:nvSpPr>
          <p:cNvPr id="27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78" name="PlaceHolder 3"/>
          <p:cNvSpPr>
            <a:spLocks noGrp="1"/>
          </p:cNvSpPr>
          <p:nvPr>
            <p:ph type="sldNum" idx="2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2E712EA-8333-40B4-9C66-9C7C09997A82}" type="slidenum">
              <a:rPr b="0" lang="en-US" sz="1400" spc="-1" strike="noStrike">
                <a:latin typeface="Times New Roman"/>
              </a:rPr>
              <a:t>&lt;number&gt;</a:t>
            </a:fld>
            <a:endParaRPr b="0" lang="en-US" sz="1400" spc="-1" strike="noStrike">
              <a:latin typeface="Times New Roman"/>
            </a:endParaRPr>
          </a:p>
        </p:txBody>
      </p:sp>
      <p:sp>
        <p:nvSpPr>
          <p:cNvPr id="279" name="PlaceHolder 4"/>
          <p:cNvSpPr>
            <a:spLocks noGrp="1"/>
          </p:cNvSpPr>
          <p:nvPr>
            <p:ph type="dt" idx="2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50920" y="698400"/>
            <a:ext cx="4651920" cy="3489840"/>
          </a:xfrm>
          <a:prstGeom prst="rect">
            <a:avLst/>
          </a:prstGeom>
          <a:ln w="0">
            <a:noFill/>
          </a:ln>
        </p:spPr>
      </p:sp>
      <p:sp>
        <p:nvSpPr>
          <p:cNvPr id="28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fontScale="96000"/>
          </a:bodyPr>
          <a:p>
            <a:pPr marL="216000" indent="-216000">
              <a:lnSpc>
                <a:spcPct val="100000"/>
              </a:lnSpc>
              <a:buNone/>
              <a:tabLst>
                <a:tab algn="l" pos="0"/>
              </a:tabLst>
            </a:pPr>
            <a:r>
              <a:rPr b="0" lang="en-US" sz="1110" spc="-1" strike="noStrike">
                <a:solidFill>
                  <a:srgbClr val="000000"/>
                </a:solidFill>
                <a:latin typeface="Calibri"/>
                <a:ea typeface="Calibri"/>
              </a:rPr>
              <a:t>Every class is different, many times the formatting of your notes will change as you get used to the professor’s lecturing style.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However, some note taking styles better suit different courses.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First, you always want to look at materials the professor gives you.</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he or she posts powerpoint slides on BB that go with lectures, print these out in this format. You can take notes over here…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Sometimes professors may send out or post a list of key terms. This will help you know what to pay close attention to in lecture.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Other times professors may post an outline to their lecture ahead of time, you can use this format and expand on it in your notes.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a:t>
            </a:r>
            <a:r>
              <a:rPr b="0" lang="en-US" sz="1110" spc="-1" strike="noStrike">
                <a:solidFill>
                  <a:srgbClr val="000000"/>
                </a:solidFill>
                <a:latin typeface="Calibri"/>
                <a:ea typeface="Calibri"/>
              </a:rPr>
              <a:t>Half page” technique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classes where the lecture focuses mainly on key terms or vocabulary.</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Outline form</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most classes, especially history.</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because they organize main points and their sub-topics.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when studying, its easy to find information quickly</a:t>
            </a:r>
            <a:br>
              <a:rPr sz="1110"/>
            </a:b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this is easier when you type your notes because Microsoft usually auto-formats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The outline format can be tricky at first, but you can create your own note-taking format based on the idea of an outline.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try and separate main ideas with blank lines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use bullet points and indents for sub-points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your notes get sloppy, draw a box around all the information relating to one main idea. </a:t>
            </a:r>
            <a:endParaRPr b="0" lang="en-US" sz="1110" spc="-1" strike="noStrike">
              <a:latin typeface="Arial"/>
            </a:endParaRPr>
          </a:p>
          <a:p>
            <a:pPr marL="216000" indent="-216000">
              <a:lnSpc>
                <a:spcPct val="100000"/>
              </a:lnSpc>
              <a:buNone/>
              <a:tabLst>
                <a:tab algn="l" pos="0"/>
              </a:tabLst>
            </a:pPr>
            <a:endParaRPr b="0" lang="en-US" sz="1110" spc="-1" strike="noStrike">
              <a:latin typeface="Arial"/>
            </a:endParaRPr>
          </a:p>
        </p:txBody>
      </p:sp>
      <p:sp>
        <p:nvSpPr>
          <p:cNvPr id="282" name="PlaceHolder 3"/>
          <p:cNvSpPr>
            <a:spLocks noGrp="1"/>
          </p:cNvSpPr>
          <p:nvPr>
            <p:ph type="sldNum" idx="2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8D1631B-6CDE-4117-BD10-1CB8E5A9CF5F}" type="slidenum">
              <a:rPr b="0" lang="en-US" sz="1400" spc="-1" strike="noStrike">
                <a:latin typeface="Times New Roman"/>
              </a:rPr>
              <a:t>&lt;number&gt;</a:t>
            </a:fld>
            <a:endParaRPr b="0" lang="en-US" sz="1400" spc="-1" strike="noStrike">
              <a:latin typeface="Times New Roman"/>
            </a:endParaRPr>
          </a:p>
        </p:txBody>
      </p:sp>
      <p:sp>
        <p:nvSpPr>
          <p:cNvPr id="283" name="PlaceHolder 4"/>
          <p:cNvSpPr>
            <a:spLocks noGrp="1"/>
          </p:cNvSpPr>
          <p:nvPr>
            <p:ph type="dt" idx="2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50920" y="698400"/>
            <a:ext cx="4651920" cy="3489840"/>
          </a:xfrm>
          <a:prstGeom prst="rect">
            <a:avLst/>
          </a:prstGeom>
          <a:ln w="0">
            <a:noFill/>
          </a:ln>
        </p:spPr>
      </p:sp>
      <p:sp>
        <p:nvSpPr>
          <p:cNvPr id="28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86" name="PlaceHolder 3"/>
          <p:cNvSpPr>
            <a:spLocks noGrp="1"/>
          </p:cNvSpPr>
          <p:nvPr>
            <p:ph type="sldNum" idx="3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1F212F4-BA65-4C70-828B-E6BF191A55F3}" type="slidenum">
              <a:rPr b="0" lang="en-US" sz="1400" spc="-1" strike="noStrike">
                <a:latin typeface="Times New Roman"/>
              </a:rPr>
              <a:t>&lt;number&gt;</a:t>
            </a:fld>
            <a:endParaRPr b="0" lang="en-US" sz="1400" spc="-1" strike="noStrike">
              <a:latin typeface="Times New Roman"/>
            </a:endParaRPr>
          </a:p>
        </p:txBody>
      </p:sp>
      <p:sp>
        <p:nvSpPr>
          <p:cNvPr id="287" name="PlaceHolder 4"/>
          <p:cNvSpPr>
            <a:spLocks noGrp="1"/>
          </p:cNvSpPr>
          <p:nvPr>
            <p:ph type="dt" idx="3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50920" y="698400"/>
            <a:ext cx="4651920" cy="3489840"/>
          </a:xfrm>
          <a:prstGeom prst="rect">
            <a:avLst/>
          </a:prstGeom>
          <a:ln w="0">
            <a:noFill/>
          </a:ln>
        </p:spPr>
      </p:sp>
      <p:sp>
        <p:nvSpPr>
          <p:cNvPr id="28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0" name="PlaceHolder 3"/>
          <p:cNvSpPr>
            <a:spLocks noGrp="1"/>
          </p:cNvSpPr>
          <p:nvPr>
            <p:ph type="sldNum" idx="3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F44C4AA-1D5E-4E95-BC82-E29EEAA6C32F}" type="slidenum">
              <a:rPr b="0" lang="en-US" sz="1400" spc="-1" strike="noStrike">
                <a:latin typeface="Times New Roman"/>
              </a:rPr>
              <a:t>&lt;number&gt;</a:t>
            </a:fld>
            <a:endParaRPr b="0" lang="en-US" sz="1400" spc="-1" strike="noStrike">
              <a:latin typeface="Times New Roman"/>
            </a:endParaRPr>
          </a:p>
        </p:txBody>
      </p:sp>
      <p:sp>
        <p:nvSpPr>
          <p:cNvPr id="291" name="PlaceHolder 4"/>
          <p:cNvSpPr>
            <a:spLocks noGrp="1"/>
          </p:cNvSpPr>
          <p:nvPr>
            <p:ph type="dt" idx="3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50920" y="698400"/>
            <a:ext cx="4651920" cy="3489840"/>
          </a:xfrm>
          <a:prstGeom prst="rect">
            <a:avLst/>
          </a:prstGeom>
          <a:ln w="0">
            <a:noFill/>
          </a:ln>
        </p:spPr>
      </p:sp>
      <p:sp>
        <p:nvSpPr>
          <p:cNvPr id="29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4" name="PlaceHolder 3"/>
          <p:cNvSpPr>
            <a:spLocks noGrp="1"/>
          </p:cNvSpPr>
          <p:nvPr>
            <p:ph type="sldNum" idx="3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D36E004E-8FA9-4B08-9EB1-C2CAB80D50F2}" type="slidenum">
              <a:rPr b="0" lang="en-US" sz="1400" spc="-1" strike="noStrike">
                <a:latin typeface="Times New Roman"/>
              </a:rPr>
              <a:t>&lt;number&gt;</a:t>
            </a:fld>
            <a:endParaRPr b="0" lang="en-US" sz="1400" spc="-1" strike="noStrike">
              <a:latin typeface="Times New Roman"/>
            </a:endParaRPr>
          </a:p>
        </p:txBody>
      </p:sp>
      <p:sp>
        <p:nvSpPr>
          <p:cNvPr id="295" name="PlaceHolder 4"/>
          <p:cNvSpPr>
            <a:spLocks noGrp="1"/>
          </p:cNvSpPr>
          <p:nvPr>
            <p:ph type="dt" idx="3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50920" y="698400"/>
            <a:ext cx="4651920" cy="3489840"/>
          </a:xfrm>
          <a:prstGeom prst="rect">
            <a:avLst/>
          </a:prstGeom>
          <a:ln w="0">
            <a:noFill/>
          </a:ln>
        </p:spPr>
      </p:sp>
      <p:sp>
        <p:nvSpPr>
          <p:cNvPr id="29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8" name="PlaceHolder 3"/>
          <p:cNvSpPr>
            <a:spLocks noGrp="1"/>
          </p:cNvSpPr>
          <p:nvPr>
            <p:ph type="sldNum" idx="3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47D5499-6F92-49C0-855E-F41F7550C298}" type="slidenum">
              <a:rPr b="0" lang="en-US" sz="1400" spc="-1" strike="noStrike">
                <a:latin typeface="Times New Roman"/>
              </a:rPr>
              <a:t>&lt;number&gt;</a:t>
            </a:fld>
            <a:endParaRPr b="0" lang="en-US" sz="1400" spc="-1" strike="noStrike">
              <a:latin typeface="Times New Roman"/>
            </a:endParaRPr>
          </a:p>
        </p:txBody>
      </p:sp>
      <p:sp>
        <p:nvSpPr>
          <p:cNvPr id="299" name="PlaceHolder 4"/>
          <p:cNvSpPr>
            <a:spLocks noGrp="1"/>
          </p:cNvSpPr>
          <p:nvPr>
            <p:ph type="dt" idx="3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50920" y="698400"/>
            <a:ext cx="4651920" cy="3489840"/>
          </a:xfrm>
          <a:prstGeom prst="rect">
            <a:avLst/>
          </a:prstGeom>
          <a:ln w="0">
            <a:noFill/>
          </a:ln>
        </p:spPr>
      </p:sp>
      <p:sp>
        <p:nvSpPr>
          <p:cNvPr id="30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Why this is challenging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lectures are often centered on one or two coherent concepts.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everything in the lecture is interrelated but it can be divided into main ideas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Why should I care about this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Not only will it lead to more organized notes for you to study from, but it’s a mental exercise in compartmentalizing information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How you do this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 and it involves getting used to the professor’s lecturing style</a:t>
            </a:r>
            <a:endParaRPr b="0" lang="en-US" sz="1200" spc="-1" strike="noStrike">
              <a:latin typeface="Arial"/>
            </a:endParaRPr>
          </a:p>
        </p:txBody>
      </p:sp>
      <p:sp>
        <p:nvSpPr>
          <p:cNvPr id="302" name="PlaceHolder 3"/>
          <p:cNvSpPr>
            <a:spLocks noGrp="1"/>
          </p:cNvSpPr>
          <p:nvPr>
            <p:ph type="sldNum" idx="3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381754D-C70B-46C9-BE21-4CB4FFCCA122}" type="slidenum">
              <a:rPr b="0" lang="en-US" sz="1400" spc="-1" strike="noStrike">
                <a:latin typeface="Times New Roman"/>
              </a:rPr>
              <a:t>&lt;number&gt;</a:t>
            </a:fld>
            <a:endParaRPr b="0" lang="en-US" sz="1400" spc="-1" strike="noStrike">
              <a:latin typeface="Times New Roman"/>
            </a:endParaRPr>
          </a:p>
        </p:txBody>
      </p:sp>
      <p:sp>
        <p:nvSpPr>
          <p:cNvPr id="303" name="PlaceHolder 4"/>
          <p:cNvSpPr>
            <a:spLocks noGrp="1"/>
          </p:cNvSpPr>
          <p:nvPr>
            <p:ph type="dt" idx="3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50920" y="698400"/>
            <a:ext cx="4651920" cy="3489840"/>
          </a:xfrm>
          <a:prstGeom prst="rect">
            <a:avLst/>
          </a:prstGeom>
          <a:ln w="0">
            <a:noFill/>
          </a:ln>
        </p:spPr>
      </p:sp>
      <p:sp>
        <p:nvSpPr>
          <p:cNvPr id="30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Many students struggle keeping up with a professor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Abbreviations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it’s ok to make up your own, as long as you know what they stand for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using consistent ones can help</a:t>
            </a: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p:txBody>
      </p:sp>
      <p:sp>
        <p:nvSpPr>
          <p:cNvPr id="306" name="PlaceHolder 3"/>
          <p:cNvSpPr>
            <a:spLocks noGrp="1"/>
          </p:cNvSpPr>
          <p:nvPr>
            <p:ph type="sldNum" idx="4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9A367980-FB7F-4953-9629-3D82B7F1712E}" type="slidenum">
              <a:rPr b="0" lang="en-US" sz="1400" spc="-1" strike="noStrike">
                <a:latin typeface="Times New Roman"/>
              </a:rPr>
              <a:t>&lt;number&gt;</a:t>
            </a:fld>
            <a:endParaRPr b="0" lang="en-US" sz="1400" spc="-1" strike="noStrike">
              <a:latin typeface="Times New Roman"/>
            </a:endParaRPr>
          </a:p>
        </p:txBody>
      </p:sp>
      <p:sp>
        <p:nvSpPr>
          <p:cNvPr id="307" name="PlaceHolder 4"/>
          <p:cNvSpPr>
            <a:spLocks noGrp="1"/>
          </p:cNvSpPr>
          <p:nvPr>
            <p:ph type="dt" idx="4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50920" y="698400"/>
            <a:ext cx="4651920" cy="3489840"/>
          </a:xfrm>
          <a:prstGeom prst="rect">
            <a:avLst/>
          </a:prstGeom>
          <a:ln w="0">
            <a:noFill/>
          </a:ln>
        </p:spPr>
      </p:sp>
      <p:sp>
        <p:nvSpPr>
          <p:cNvPr id="30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Challenge of doing two things at once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listening and thinking while taking notes can be difficult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doing reading beforehand is essential because then you know the areas you are confused on. You can focus your attention on these areas and ask questions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Talk to your professor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him/her to provide you with an outline ahead of time, set up your notes ahead of time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copies of PowerPoint slides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tips and advice!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This can be especially challenging for students with disabilities, but there are accommodations that can help you with this if you feel your disability is presenting challenges with note taking</a:t>
            </a:r>
            <a:endParaRPr b="0" lang="en-US" sz="1200" spc="-1" strike="noStrike">
              <a:latin typeface="Arial"/>
            </a:endParaRPr>
          </a:p>
        </p:txBody>
      </p:sp>
      <p:sp>
        <p:nvSpPr>
          <p:cNvPr id="310" name="PlaceHolder 3"/>
          <p:cNvSpPr>
            <a:spLocks noGrp="1"/>
          </p:cNvSpPr>
          <p:nvPr>
            <p:ph type="sldNum" idx="4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5009E04-9FA1-4B49-A5DD-417AC0E2C849}" type="slidenum">
              <a:rPr b="0" lang="en-US" sz="1400" spc="-1" strike="noStrike">
                <a:latin typeface="Times New Roman"/>
              </a:rPr>
              <a:t>&lt;number&gt;</a:t>
            </a:fld>
            <a:endParaRPr b="0" lang="en-US" sz="1400" spc="-1" strike="noStrike">
              <a:latin typeface="Times New Roman"/>
            </a:endParaRPr>
          </a:p>
        </p:txBody>
      </p:sp>
      <p:sp>
        <p:nvSpPr>
          <p:cNvPr id="311" name="PlaceHolder 4"/>
          <p:cNvSpPr>
            <a:spLocks noGrp="1"/>
          </p:cNvSpPr>
          <p:nvPr>
            <p:ph type="dt" idx="4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50920" y="698400"/>
            <a:ext cx="4651920" cy="3489840"/>
          </a:xfrm>
          <a:prstGeom prst="rect">
            <a:avLst/>
          </a:prstGeom>
          <a:ln w="0">
            <a:noFill/>
          </a:ln>
        </p:spPr>
      </p:sp>
      <p:sp>
        <p:nvSpPr>
          <p:cNvPr id="31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pPr marL="216000" indent="-216000">
              <a:lnSpc>
                <a:spcPct val="100000"/>
              </a:lnSpc>
              <a:buNone/>
              <a:tabLst>
                <a:tab algn="l" pos="0"/>
              </a:tabLst>
            </a:pPr>
            <a:r>
              <a:rPr b="0" lang="en-US" sz="1200" spc="-1" strike="noStrike">
                <a:solidFill>
                  <a:srgbClr val="000000"/>
                </a:solidFill>
                <a:latin typeface="Calibri"/>
                <a:ea typeface="Calibri"/>
              </a:rPr>
              <a:t>Go to website and show video</a:t>
            </a:r>
            <a:endParaRPr b="0" lang="en-US" sz="1200" spc="-1" strike="noStrike">
              <a:latin typeface="Arial"/>
            </a:endParaRPr>
          </a:p>
        </p:txBody>
      </p:sp>
      <p:sp>
        <p:nvSpPr>
          <p:cNvPr id="314" name="PlaceHolder 3"/>
          <p:cNvSpPr>
            <a:spLocks noGrp="1"/>
          </p:cNvSpPr>
          <p:nvPr>
            <p:ph type="sldNum" idx="4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FAB0874-B617-42D9-80C0-F6B7C3D5CE13}" type="slidenum">
              <a:rPr b="0" lang="en-US" sz="1400" spc="-1" strike="noStrike">
                <a:latin typeface="Times New Roman"/>
              </a:rPr>
              <a:t>&lt;number&gt;</a:t>
            </a:fld>
            <a:endParaRPr b="0" lang="en-US" sz="1400" spc="-1" strike="noStrike">
              <a:latin typeface="Times New Roman"/>
            </a:endParaRPr>
          </a:p>
        </p:txBody>
      </p:sp>
      <p:sp>
        <p:nvSpPr>
          <p:cNvPr id="315" name="PlaceHolder 4"/>
          <p:cNvSpPr>
            <a:spLocks noGrp="1"/>
          </p:cNvSpPr>
          <p:nvPr>
            <p:ph type="dt" idx="4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150920" y="698400"/>
            <a:ext cx="4651920" cy="3489840"/>
          </a:xfrm>
          <a:prstGeom prst="rect">
            <a:avLst/>
          </a:prstGeom>
          <a:ln w="0">
            <a:noFill/>
          </a:ln>
        </p:spPr>
      </p:sp>
      <p:sp>
        <p:nvSpPr>
          <p:cNvPr id="31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Your own ability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you have no problems with this, write down as much as you can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Generally, the more information you can get the better because you can use this for essays and other assignments. When studying, it is easier to choose not to study every detail in your notes than it is to go look up more information.  However, you want to still be able to process the information you are writing.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this is something you have trouble with, focus on main ideas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pulse pen or voice recorder?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Focus on main ideas as well</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ppt slides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not rewrite down what they already gave you</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Is this something you’ve studied before?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write down new information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Confused?</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may want to write down everything your professor says, go back and read it later to see if it clears everything up</a:t>
            </a:r>
            <a:endParaRPr b="0" lang="en-US" sz="1200" spc="-1" strike="noStrike">
              <a:latin typeface="Arial"/>
            </a:endParaRPr>
          </a:p>
        </p:txBody>
      </p:sp>
      <p:sp>
        <p:nvSpPr>
          <p:cNvPr id="318" name="PlaceHolder 3"/>
          <p:cNvSpPr>
            <a:spLocks noGrp="1"/>
          </p:cNvSpPr>
          <p:nvPr>
            <p:ph type="sldNum" idx="4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E7EAB70-A679-418A-8700-0F108BF18852}" type="slidenum">
              <a:rPr b="0" lang="en-US" sz="1400" spc="-1" strike="noStrike">
                <a:latin typeface="Times New Roman"/>
              </a:rPr>
              <a:t>&lt;number&gt;</a:t>
            </a:fld>
            <a:endParaRPr b="0" lang="en-US" sz="1400" spc="-1" strike="noStrike">
              <a:latin typeface="Times New Roman"/>
            </a:endParaRPr>
          </a:p>
        </p:txBody>
      </p:sp>
      <p:sp>
        <p:nvSpPr>
          <p:cNvPr id="319" name="PlaceHolder 4"/>
          <p:cNvSpPr>
            <a:spLocks noGrp="1"/>
          </p:cNvSpPr>
          <p:nvPr>
            <p:ph type="dt" idx="4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1150920" y="698400"/>
            <a:ext cx="4651920" cy="3489840"/>
          </a:xfrm>
          <a:prstGeom prst="rect">
            <a:avLst/>
          </a:prstGeom>
          <a:ln w="0">
            <a:noFill/>
          </a:ln>
        </p:spPr>
      </p:sp>
      <p:sp>
        <p:nvSpPr>
          <p:cNvPr id="32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Put question marks next to areas you are confused 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then look it up in your book, ask your tutor, or talk to your professor</a:t>
            </a:r>
            <a:endParaRPr b="0" lang="en-US" sz="1200" spc="-1" strike="noStrike">
              <a:latin typeface="Arial"/>
            </a:endParaRPr>
          </a:p>
        </p:txBody>
      </p:sp>
      <p:sp>
        <p:nvSpPr>
          <p:cNvPr id="322" name="PlaceHolder 3"/>
          <p:cNvSpPr>
            <a:spLocks noGrp="1"/>
          </p:cNvSpPr>
          <p:nvPr>
            <p:ph type="sldNum" idx="4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78247EB-47EB-4E7A-B06E-534AA6FF9BC7}" type="slidenum">
              <a:rPr b="0" lang="en-US" sz="1400" spc="-1" strike="noStrike">
                <a:latin typeface="Times New Roman"/>
              </a:rPr>
              <a:t>&lt;number&gt;</a:t>
            </a:fld>
            <a:endParaRPr b="0" lang="en-US" sz="1400" spc="-1" strike="noStrike">
              <a:latin typeface="Times New Roman"/>
            </a:endParaRPr>
          </a:p>
        </p:txBody>
      </p:sp>
      <p:sp>
        <p:nvSpPr>
          <p:cNvPr id="323" name="PlaceHolder 4"/>
          <p:cNvSpPr>
            <a:spLocks noGrp="1"/>
          </p:cNvSpPr>
          <p:nvPr>
            <p:ph type="dt" idx="4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1150920" y="698400"/>
            <a:ext cx="4651920" cy="3489840"/>
          </a:xfrm>
          <a:prstGeom prst="rect">
            <a:avLst/>
          </a:prstGeom>
          <a:ln w="0">
            <a:noFill/>
          </a:ln>
        </p:spPr>
      </p:sp>
      <p:sp>
        <p:nvSpPr>
          <p:cNvPr id="32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466560" indent="-216000">
              <a:lnSpc>
                <a:spcPct val="100000"/>
              </a:lnSpc>
              <a:buNone/>
              <a:tabLst>
                <a:tab algn="l" pos="0"/>
              </a:tabLst>
            </a:pPr>
            <a:r>
              <a:rPr b="0" lang="en-US" sz="1200" spc="-1" strike="noStrike">
                <a:solidFill>
                  <a:srgbClr val="000000"/>
                </a:solidFill>
                <a:latin typeface="Calibri"/>
                <a:ea typeface="Calibri"/>
              </a:rPr>
              <a:t>For the Over-zealous note taker</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underline the most important parts of each section.</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For the Over-burdened note taker</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compare notes with a classmate. </a:t>
            </a:r>
            <a:endParaRPr b="0" lang="en-US" sz="12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Accommodations</a:t>
            </a:r>
            <a:endParaRPr b="0" lang="en-US" sz="11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	</a:t>
            </a:r>
            <a:r>
              <a:rPr b="0" lang="en-US" sz="1100" spc="-1" strike="noStrike">
                <a:solidFill>
                  <a:srgbClr val="000000"/>
                </a:solidFill>
                <a:latin typeface="Calibri"/>
                <a:ea typeface="Calibri"/>
              </a:rPr>
              <a:t>- </a:t>
            </a:r>
            <a:r>
              <a:rPr b="0" lang="en-US" sz="1200" spc="-1" strike="noStrike">
                <a:solidFill>
                  <a:srgbClr val="000000"/>
                </a:solidFill>
                <a:latin typeface="Calibri"/>
                <a:ea typeface="Calibri"/>
              </a:rPr>
              <a:t>listen to your recordings, look at your note takers’ information and compare to your notes. Fill in other things you remember that they missed.</a:t>
            </a:r>
            <a:endParaRPr b="0" lang="en-US" sz="1200" spc="-1" strike="noStrike">
              <a:latin typeface="Arial"/>
            </a:endParaRPr>
          </a:p>
        </p:txBody>
      </p:sp>
      <p:sp>
        <p:nvSpPr>
          <p:cNvPr id="326" name="PlaceHolder 3"/>
          <p:cNvSpPr>
            <a:spLocks noGrp="1"/>
          </p:cNvSpPr>
          <p:nvPr>
            <p:ph type="sldNum" idx="5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8B34840-9737-4C9A-9B2E-C4D184D8C453}" type="slidenum">
              <a:rPr b="0" lang="en-US" sz="1400" spc="-1" strike="noStrike">
                <a:latin typeface="Times New Roman"/>
              </a:rPr>
              <a:t>&lt;number&gt;</a:t>
            </a:fld>
            <a:endParaRPr b="0" lang="en-US" sz="1400" spc="-1" strike="noStrike">
              <a:latin typeface="Times New Roman"/>
            </a:endParaRPr>
          </a:p>
        </p:txBody>
      </p:sp>
      <p:sp>
        <p:nvSpPr>
          <p:cNvPr id="327" name="PlaceHolder 4"/>
          <p:cNvSpPr>
            <a:spLocks noGrp="1"/>
          </p:cNvSpPr>
          <p:nvPr>
            <p:ph type="dt" idx="5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50920" y="698400"/>
            <a:ext cx="4651920" cy="3489840"/>
          </a:xfrm>
          <a:prstGeom prst="rect">
            <a:avLst/>
          </a:prstGeom>
          <a:ln w="0">
            <a:noFill/>
          </a:ln>
        </p:spPr>
      </p:sp>
      <p:sp>
        <p:nvSpPr>
          <p:cNvPr id="32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330" name="PlaceHolder 3"/>
          <p:cNvSpPr>
            <a:spLocks noGrp="1"/>
          </p:cNvSpPr>
          <p:nvPr>
            <p:ph type="sldNum" idx="5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B1EBFAE-9C4D-4139-B6D7-DF109CD3A5E3}" type="slidenum">
              <a:rPr b="0" lang="en-US" sz="1400" spc="-1" strike="noStrike">
                <a:latin typeface="Times New Roman"/>
              </a:rPr>
              <a:t>&lt;number&gt;</a:t>
            </a:fld>
            <a:endParaRPr b="0" lang="en-US" sz="1400" spc="-1" strike="noStrike">
              <a:latin typeface="Times New Roman"/>
            </a:endParaRPr>
          </a:p>
        </p:txBody>
      </p:sp>
      <p:sp>
        <p:nvSpPr>
          <p:cNvPr id="331" name="PlaceHolder 4"/>
          <p:cNvSpPr>
            <a:spLocks noGrp="1"/>
          </p:cNvSpPr>
          <p:nvPr>
            <p:ph type="dt" idx="5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1150920" y="698400"/>
            <a:ext cx="4651920" cy="3489840"/>
          </a:xfrm>
          <a:prstGeom prst="rect">
            <a:avLst/>
          </a:prstGeom>
          <a:ln w="0">
            <a:noFill/>
          </a:ln>
        </p:spPr>
      </p:sp>
      <p:sp>
        <p:nvSpPr>
          <p:cNvPr id="33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Questions students often have about taking notes from text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What do you fins most challenging about taking notes from text?</a:t>
            </a:r>
            <a:endParaRPr b="0" lang="en-US" sz="1200" spc="-1" strike="noStrike">
              <a:latin typeface="Arial"/>
            </a:endParaRPr>
          </a:p>
        </p:txBody>
      </p:sp>
      <p:sp>
        <p:nvSpPr>
          <p:cNvPr id="334" name="PlaceHolder 3"/>
          <p:cNvSpPr>
            <a:spLocks noGrp="1"/>
          </p:cNvSpPr>
          <p:nvPr>
            <p:ph type="sldNum" idx="5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552AC2FD-E993-4F57-B6B0-5E7CB2C20724}" type="slidenum">
              <a:rPr b="0" lang="en-US" sz="1400" spc="-1" strike="noStrike">
                <a:latin typeface="Times New Roman"/>
              </a:rPr>
              <a:t>&lt;number&gt;</a:t>
            </a:fld>
            <a:endParaRPr b="0" lang="en-US" sz="1400" spc="-1" strike="noStrike">
              <a:latin typeface="Times New Roman"/>
            </a:endParaRPr>
          </a:p>
        </p:txBody>
      </p:sp>
      <p:sp>
        <p:nvSpPr>
          <p:cNvPr id="335" name="PlaceHolder 4"/>
          <p:cNvSpPr>
            <a:spLocks noGrp="1"/>
          </p:cNvSpPr>
          <p:nvPr>
            <p:ph type="dt" idx="5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150920" y="698400"/>
            <a:ext cx="4651920" cy="3489840"/>
          </a:xfrm>
          <a:prstGeom prst="rect">
            <a:avLst/>
          </a:prstGeom>
          <a:ln w="0">
            <a:noFill/>
          </a:ln>
        </p:spPr>
      </p:sp>
      <p:sp>
        <p:nvSpPr>
          <p:cNvPr id="33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38" name="PlaceHolder 3"/>
          <p:cNvSpPr>
            <a:spLocks noGrp="1"/>
          </p:cNvSpPr>
          <p:nvPr>
            <p:ph type="sldNum" idx="5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2C24B2D-D2F7-4593-955A-D38BA463BC80}" type="slidenum">
              <a:rPr b="0" lang="en-US" sz="1400" spc="-1" strike="noStrike">
                <a:latin typeface="Times New Roman"/>
              </a:rPr>
              <a:t>&lt;number&gt;</a:t>
            </a:fld>
            <a:endParaRPr b="0" lang="en-US" sz="1400" spc="-1" strike="noStrike">
              <a:latin typeface="Times New Roman"/>
            </a:endParaRPr>
          </a:p>
        </p:txBody>
      </p:sp>
      <p:sp>
        <p:nvSpPr>
          <p:cNvPr id="339" name="PlaceHolder 4"/>
          <p:cNvSpPr>
            <a:spLocks noGrp="1"/>
          </p:cNvSpPr>
          <p:nvPr>
            <p:ph type="dt" idx="5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50920" y="698400"/>
            <a:ext cx="4651920" cy="3489840"/>
          </a:xfrm>
          <a:prstGeom prst="rect">
            <a:avLst/>
          </a:prstGeom>
          <a:ln w="0">
            <a:noFill/>
          </a:ln>
        </p:spPr>
      </p:sp>
      <p:sp>
        <p:nvSpPr>
          <p:cNvPr id="34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42" name="PlaceHolder 3"/>
          <p:cNvSpPr>
            <a:spLocks noGrp="1"/>
          </p:cNvSpPr>
          <p:nvPr>
            <p:ph type="sldNum" idx="5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68FE410-8D3B-4F08-AB15-3CAB6A4835E4}" type="slidenum">
              <a:rPr b="0" lang="en-US" sz="1400" spc="-1" strike="noStrike">
                <a:latin typeface="Times New Roman"/>
              </a:rPr>
              <a:t>&lt;number&gt;</a:t>
            </a:fld>
            <a:endParaRPr b="0" lang="en-US" sz="1400" spc="-1" strike="noStrike">
              <a:latin typeface="Times New Roman"/>
            </a:endParaRPr>
          </a:p>
        </p:txBody>
      </p:sp>
      <p:sp>
        <p:nvSpPr>
          <p:cNvPr id="343" name="PlaceHolder 4"/>
          <p:cNvSpPr>
            <a:spLocks noGrp="1"/>
          </p:cNvSpPr>
          <p:nvPr>
            <p:ph type="dt" idx="5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50920" y="698400"/>
            <a:ext cx="4651920" cy="3489840"/>
          </a:xfrm>
          <a:prstGeom prst="rect">
            <a:avLst/>
          </a:prstGeom>
          <a:ln w="0">
            <a:noFill/>
          </a:ln>
        </p:spPr>
      </p:sp>
      <p:sp>
        <p:nvSpPr>
          <p:cNvPr id="34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46" name="PlaceHolder 3"/>
          <p:cNvSpPr>
            <a:spLocks noGrp="1"/>
          </p:cNvSpPr>
          <p:nvPr>
            <p:ph type="sldNum" idx="6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1B92502-441D-41C2-AE2B-3D796ECA0C10}" type="slidenum">
              <a:rPr b="0" lang="en-US" sz="1400" spc="-1" strike="noStrike">
                <a:latin typeface="Times New Roman"/>
              </a:rPr>
              <a:t>&lt;number&gt;</a:t>
            </a:fld>
            <a:endParaRPr b="0" lang="en-US" sz="1400" spc="-1" strike="noStrike">
              <a:latin typeface="Times New Roman"/>
            </a:endParaRPr>
          </a:p>
        </p:txBody>
      </p:sp>
      <p:sp>
        <p:nvSpPr>
          <p:cNvPr id="347" name="PlaceHolder 4"/>
          <p:cNvSpPr>
            <a:spLocks noGrp="1"/>
          </p:cNvSpPr>
          <p:nvPr>
            <p:ph type="dt" idx="6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150920" y="698400"/>
            <a:ext cx="4651920" cy="3489840"/>
          </a:xfrm>
          <a:prstGeom prst="rect">
            <a:avLst/>
          </a:prstGeom>
          <a:ln w="0">
            <a:noFill/>
          </a:ln>
        </p:spPr>
      </p:sp>
      <p:sp>
        <p:nvSpPr>
          <p:cNvPr id="34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Summarizing advice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Decide whether you want to type or write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Choose a way to format your notes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Identify main points during lecture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Use abbreviations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reading beforehand</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assistive technology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Review your notes after class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For notes from text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book’s structure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prioritize your tasks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flag pages and underline, then go back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Questions?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Review students’ notes</a:t>
            </a:r>
            <a:endParaRPr b="0" lang="en-US" sz="1200" spc="-1" strike="noStrike">
              <a:latin typeface="Arial"/>
            </a:endParaRPr>
          </a:p>
        </p:txBody>
      </p:sp>
      <p:sp>
        <p:nvSpPr>
          <p:cNvPr id="350" name="PlaceHolder 3"/>
          <p:cNvSpPr>
            <a:spLocks noGrp="1"/>
          </p:cNvSpPr>
          <p:nvPr>
            <p:ph type="sldNum" idx="6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9A5A0651-EA99-4FEC-991A-5DDE711EA08B}" type="slidenum">
              <a:rPr b="0" lang="en-US" sz="1400" spc="-1" strike="noStrike">
                <a:latin typeface="Times New Roman"/>
              </a:rPr>
              <a:t>&lt;number&gt;</a:t>
            </a:fld>
            <a:endParaRPr b="0" lang="en-US" sz="1400" spc="-1" strike="noStrike">
              <a:latin typeface="Times New Roman"/>
            </a:endParaRPr>
          </a:p>
        </p:txBody>
      </p:sp>
      <p:sp>
        <p:nvSpPr>
          <p:cNvPr id="351" name="PlaceHolder 4"/>
          <p:cNvSpPr>
            <a:spLocks noGrp="1"/>
          </p:cNvSpPr>
          <p:nvPr>
            <p:ph type="dt" idx="6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5B3E41EC-8D78-4096-8C01-14076813E791}"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ADC79E0-37E6-4518-AF48-A8BE24952BF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20C51F1-BE44-4F6C-8260-D229685113E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EDAE68F5-4474-4BA5-A909-ADB79CD43269}"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AA3E3B6-D06C-449D-8147-361F48CE7A76}"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38325E2-C602-4D1B-BF3A-69BA36A55301}"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45BC0DB-EC73-409F-9118-D8E9E7D07F78}"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3185016-DB50-488A-A799-D6E402171CFB}"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F2312A8-8FCE-4BDB-91B0-0C9E717910D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25EC32C-ACB5-45AD-91C9-51A17AE59F67}"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223D8B6F-E25C-4822-8C75-4886A9118EA8}"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FEDF89F7-BAF6-40CB-BA84-E6C7E3B35547}"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7AEA9E87-CA2B-4E70-85CF-4ECD6C7CC9A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7041ACB-0246-471E-BF10-8F4C8AA94D2D}"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98EE1A0-122C-4F7F-BFA8-B1D271106DE5}"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F34FD957-DE1B-4A5B-ACF8-4F95F32A117C}"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9116561A-2A04-4280-B59E-5600016C4A79}"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A34D79F-2EFC-4076-9D07-9C5F9F3FD6A4}"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2ACBDA1-F7B1-4F3D-9991-7DB5B38DC57A}"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3685E283-8F4D-4BA6-B861-A528F18B9529}"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31AD320-634C-4BD3-AB0B-62C701126632}"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87E0FF0B-1EDB-416E-8011-A0A51E78D117}"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D7759010-119D-420B-930E-274E1F2C7BF3}"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59C70C28-ADB1-4C1A-B2F6-8D8F1C4778E8}"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C3256EB-99F1-4DF0-9F03-F462BCDA25B8}"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1584D21-9E35-4081-8226-66FD2412FEDC}"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F654A0A9-568D-4E97-A6D9-BC2761BD80BD}"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4F12707-3268-4BED-ACC0-4F5A041E4324}"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00A3AD9F-88FB-45A9-83B3-A99264F75970}"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8991DD5C-1759-459B-AB6C-5B738FD53AC5}"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0C4E4B43-3381-4757-9D04-5DF0B314F713}"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1AE72D18-DFCB-4E4D-B7FD-E3445FEEB73F}"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8763776-0FD6-434E-9B81-F59F38AF5857}"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D05B663-3336-4191-AC99-673631B6BC76}"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B5F16FF9-F25B-4506-BCBA-B3E74F8F1C68}"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297189FC-F548-430F-A950-3E5FA4A05808}"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4CA79446-5191-44F4-9CC6-EAAC857C3CEA}"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1F8FFB03-6AFE-4AE9-AEFE-F68842CE8263}"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69D903A-894E-4DDD-B2FE-16878DDF06BC}"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FFDFA91D-C736-42E5-BCED-A5CA2F544DC6}"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757FB281-576E-4DD7-9B9D-44E9503B30AA}"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3D2D27B8-C64B-4915-ABF3-09BC553168B2}"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60E52A8D-E3FE-4EBF-88D2-B39ADBE2F4E2}"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C2E08FE0-E1D4-4D50-BC88-264B6F0C4924}"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245B8FA9-5A4F-4212-9845-E77C85867B6E}"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B55E119-433E-41FC-8810-A96E0C7676D7}"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943F87C3-94DB-43C3-B6E1-E0F789B4463C}"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3CA4F0BA-61D4-4797-B97C-E225C8C485B0}" type="slidenum">
              <a:t>&lt;#&gt;</a:t>
            </a:fld>
          </a:p>
        </p:txBody>
      </p:sp>
      <p:sp>
        <p:nvSpPr>
          <p:cNvPr id="11" name="PlaceHolder 10"/>
          <p:cNvSpPr>
            <a:spLocks noGrp="1"/>
          </p:cNvSpPr>
          <p:nvPr>
            <p:ph type="dt" idx="1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2" name="Google Shape;18;p30"/>
          <p:cNvSpPr/>
          <p:nvPr/>
        </p:nvSpPr>
        <p:spPr>
          <a:xfrm>
            <a:off x="7010280" y="152280"/>
            <a:ext cx="1980000" cy="6555240"/>
          </a:xfrm>
          <a:prstGeom prst="rect">
            <a:avLst/>
          </a:prstGeom>
          <a:solidFill>
            <a:schemeClr val="accent1"/>
          </a:solidFill>
          <a:ln w="0">
            <a:noFill/>
          </a:ln>
        </p:spPr>
        <p:style>
          <a:lnRef idx="0"/>
          <a:fillRef idx="0"/>
          <a:effectRef idx="0"/>
          <a:fontRef idx="minor"/>
        </p:style>
      </p:sp>
      <p:sp>
        <p:nvSpPr>
          <p:cNvPr id="3" name="Google Shape;19;p30"/>
          <p:cNvSpPr/>
          <p:nvPr/>
        </p:nvSpPr>
        <p:spPr>
          <a:xfrm>
            <a:off x="152280" y="154080"/>
            <a:ext cx="6704640" cy="6552000"/>
          </a:xfrm>
          <a:prstGeom prst="rect">
            <a:avLst/>
          </a:prstGeom>
          <a:solidFill>
            <a:schemeClr val="dk2"/>
          </a:solidFill>
          <a:ln w="0">
            <a:noFill/>
          </a:ln>
        </p:spPr>
        <p:style>
          <a:lnRef idx="0"/>
          <a:fillRef idx="0"/>
          <a:effectRef idx="0"/>
          <a:fontRef idx="minor"/>
        </p:style>
      </p:sp>
      <p:sp>
        <p:nvSpPr>
          <p:cNvPr id="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6" name="PlaceHolder 3"/>
          <p:cNvSpPr>
            <a:spLocks noGrp="1"/>
          </p:cNvSpPr>
          <p:nvPr>
            <p:ph type="ftr" idx="1"/>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7" name="PlaceHolder 4"/>
          <p:cNvSpPr>
            <a:spLocks noGrp="1"/>
          </p:cNvSpPr>
          <p:nvPr>
            <p:ph type="sldNum" idx="2"/>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ffffff"/>
                </a:solidFill>
                <a:latin typeface="Libre Franklin Medium"/>
                <a:ea typeface="Libre Franklin Medium"/>
              </a:defRPr>
            </a:lvl1pPr>
          </a:lstStyle>
          <a:p>
            <a:pPr algn="ctr">
              <a:lnSpc>
                <a:spcPct val="100000"/>
              </a:lnSpc>
              <a:buNone/>
              <a:tabLst>
                <a:tab algn="l" pos="0"/>
              </a:tabLst>
            </a:pPr>
            <a:fld id="{83A23F5C-CF9F-4576-8741-8F258D9686BD}" type="slidenum">
              <a:rPr b="0" lang="en-US" sz="1100" spc="-1" strike="noStrike">
                <a:solidFill>
                  <a:srgbClr val="ffffff"/>
                </a:solidFill>
                <a:latin typeface="Libre Franklin Medium"/>
                <a:ea typeface="Libre Franklin Medium"/>
              </a:rPr>
              <a:t>&lt;number&gt;</a:t>
            </a:fld>
            <a:endParaRPr b="0" lang="en-US" sz="1100" spc="-1" strike="noStrike">
              <a:latin typeface="Times New Roman"/>
            </a:endParaRPr>
          </a:p>
        </p:txBody>
      </p:sp>
      <p:sp>
        <p:nvSpPr>
          <p:cNvPr id="8" name="PlaceHolder 5"/>
          <p:cNvSpPr>
            <a:spLocks noGrp="1"/>
          </p:cNvSpPr>
          <p:nvPr>
            <p:ph type="dt" idx="3"/>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46"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47" name="PlaceHolder 1"/>
          <p:cNvSpPr>
            <a:spLocks noGrp="1"/>
          </p:cNvSpPr>
          <p:nvPr>
            <p:ph type="ftr" idx="4"/>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48" name="PlaceHolder 2"/>
          <p:cNvSpPr>
            <a:spLocks noGrp="1"/>
          </p:cNvSpPr>
          <p:nvPr>
            <p:ph type="sldNum" idx="5"/>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F5BE5D27-2F20-475C-AA52-921D8DF529FE}" type="slidenum">
              <a:rPr b="0" lang="en-US" sz="1100" spc="-1" strike="noStrike">
                <a:solidFill>
                  <a:srgbClr val="534949"/>
                </a:solidFill>
                <a:latin typeface="Libre Franklin Medium"/>
                <a:ea typeface="Libre Franklin Medium"/>
              </a:rPr>
              <a:t>&lt;number&gt;</a:t>
            </a:fld>
            <a:endParaRPr b="0" lang="en-US" sz="1100" spc="-1" strike="noStrike">
              <a:latin typeface="Times New Roman"/>
            </a:endParaRPr>
          </a:p>
        </p:txBody>
      </p:sp>
      <p:sp>
        <p:nvSpPr>
          <p:cNvPr id="49" name="PlaceHolder 3"/>
          <p:cNvSpPr>
            <a:spLocks noGrp="1"/>
          </p:cNvSpPr>
          <p:nvPr>
            <p:ph type="dt" idx="6"/>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5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5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89"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90" name="Google Shape;32;p32"/>
          <p:cNvSpPr/>
          <p:nvPr/>
        </p:nvSpPr>
        <p:spPr>
          <a:xfrm>
            <a:off x="7010280" y="152280"/>
            <a:ext cx="1980000" cy="6555240"/>
          </a:xfrm>
          <a:prstGeom prst="rect">
            <a:avLst/>
          </a:prstGeom>
          <a:solidFill>
            <a:schemeClr val="dk2"/>
          </a:solidFill>
          <a:ln w="0">
            <a:noFill/>
          </a:ln>
        </p:spPr>
        <p:style>
          <a:lnRef idx="0"/>
          <a:fillRef idx="0"/>
          <a:effectRef idx="0"/>
          <a:fontRef idx="minor"/>
        </p:style>
      </p:sp>
      <p:sp>
        <p:nvSpPr>
          <p:cNvPr id="91" name="Google Shape;33;p32"/>
          <p:cNvSpPr/>
          <p:nvPr/>
        </p:nvSpPr>
        <p:spPr>
          <a:xfrm>
            <a:off x="152280" y="154080"/>
            <a:ext cx="6704640" cy="6552000"/>
          </a:xfrm>
          <a:prstGeom prst="rect">
            <a:avLst/>
          </a:prstGeom>
          <a:solidFill>
            <a:schemeClr val="accent1"/>
          </a:solidFill>
          <a:ln w="0">
            <a:noFill/>
          </a:ln>
        </p:spPr>
        <p:style>
          <a:lnRef idx="0"/>
          <a:fillRef idx="0"/>
          <a:effectRef idx="0"/>
          <a:fontRef idx="minor"/>
        </p:style>
      </p:sp>
      <p:sp>
        <p:nvSpPr>
          <p:cNvPr id="92" name="PlaceHolder 1"/>
          <p:cNvSpPr>
            <a:spLocks noGrp="1"/>
          </p:cNvSpPr>
          <p:nvPr>
            <p:ph type="ftr" idx="7"/>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93" name="PlaceHolder 2"/>
          <p:cNvSpPr>
            <a:spLocks noGrp="1"/>
          </p:cNvSpPr>
          <p:nvPr>
            <p:ph type="sldNum" idx="8"/>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ccd1b9"/>
                </a:solidFill>
                <a:latin typeface="Libre Franklin Medium"/>
                <a:ea typeface="Libre Franklin Medium"/>
              </a:defRPr>
            </a:lvl1pPr>
          </a:lstStyle>
          <a:p>
            <a:pPr algn="ctr">
              <a:lnSpc>
                <a:spcPct val="100000"/>
              </a:lnSpc>
              <a:buNone/>
              <a:tabLst>
                <a:tab algn="l" pos="0"/>
              </a:tabLst>
            </a:pPr>
            <a:fld id="{0056ACCF-DBCB-425B-A8A9-2D20E10C52B0}" type="slidenum">
              <a:rPr b="0" lang="en-US" sz="1100" spc="-1" strike="noStrike">
                <a:solidFill>
                  <a:srgbClr val="ccd1b9"/>
                </a:solidFill>
                <a:latin typeface="Libre Franklin Medium"/>
                <a:ea typeface="Libre Franklin Medium"/>
              </a:rPr>
              <a:t>&lt;number&gt;</a:t>
            </a:fld>
            <a:endParaRPr b="0" lang="en-US" sz="1100" spc="-1" strike="noStrike">
              <a:latin typeface="Times New Roman"/>
            </a:endParaRPr>
          </a:p>
        </p:txBody>
      </p:sp>
      <p:sp>
        <p:nvSpPr>
          <p:cNvPr id="94" name="PlaceHolder 3"/>
          <p:cNvSpPr>
            <a:spLocks noGrp="1"/>
          </p:cNvSpPr>
          <p:nvPr>
            <p:ph type="dt" idx="9"/>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9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9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34"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13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136" name="PlaceHolder 2"/>
          <p:cNvSpPr>
            <a:spLocks noGrp="1"/>
          </p:cNvSpPr>
          <p:nvPr>
            <p:ph type="ftr" idx="10"/>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137" name="PlaceHolder 3"/>
          <p:cNvSpPr>
            <a:spLocks noGrp="1"/>
          </p:cNvSpPr>
          <p:nvPr>
            <p:ph type="sldNum" idx="11"/>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BE37D6A3-C3AF-4E3B-9A17-54055DBE5F35}" type="slidenum">
              <a:rPr b="0" lang="en-US" sz="1100" spc="-1" strike="noStrike">
                <a:solidFill>
                  <a:srgbClr val="534949"/>
                </a:solidFill>
                <a:latin typeface="Libre Franklin Medium"/>
                <a:ea typeface="Libre Franklin Medium"/>
              </a:rPr>
              <a:t>&lt;number&gt;</a:t>
            </a:fld>
            <a:endParaRPr b="0" lang="en-US" sz="1100" spc="-1" strike="noStrike">
              <a:latin typeface="Times New Roman"/>
            </a:endParaRPr>
          </a:p>
        </p:txBody>
      </p:sp>
      <p:sp>
        <p:nvSpPr>
          <p:cNvPr id="138" name="PlaceHolder 4"/>
          <p:cNvSpPr>
            <a:spLocks noGrp="1"/>
          </p:cNvSpPr>
          <p:nvPr>
            <p:ph type="dt" idx="12"/>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3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3.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gif"/><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5.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ubTitle"/>
          </p:nvPr>
        </p:nvSpPr>
        <p:spPr>
          <a:xfrm>
            <a:off x="7010280" y="2053080"/>
            <a:ext cx="1980000" cy="1827720"/>
          </a:xfrm>
          <a:prstGeom prst="rect">
            <a:avLst/>
          </a:prstGeom>
          <a:noFill/>
          <a:ln w="0">
            <a:noFill/>
          </a:ln>
        </p:spPr>
        <p:txBody>
          <a:bodyPr lIns="0" rIns="0" tIns="0" bIns="0" anchor="ctr">
            <a:normAutofit/>
          </a:bodyPr>
          <a:p>
            <a:pPr algn="ctr">
              <a:lnSpc>
                <a:spcPct val="100000"/>
              </a:lnSpc>
              <a:buNone/>
              <a:tabLst>
                <a:tab algn="l" pos="0"/>
              </a:tabLst>
            </a:pPr>
            <a:r>
              <a:rPr b="0" lang="en-US" sz="1900" spc="-1" strike="noStrike">
                <a:solidFill>
                  <a:srgbClr val="ffffff"/>
                </a:solidFill>
                <a:latin typeface="Liberation Sans Narrow"/>
                <a:ea typeface="Liberation Sans Narrow"/>
              </a:rPr>
              <a:t>Project IMPACT,</a:t>
            </a:r>
            <a:endParaRPr b="0" lang="en-US" sz="1900" spc="-1" strike="noStrike">
              <a:latin typeface="Arial"/>
            </a:endParaRPr>
          </a:p>
          <a:p>
            <a:pPr algn="ctr">
              <a:lnSpc>
                <a:spcPct val="100000"/>
              </a:lnSpc>
              <a:spcBef>
                <a:spcPts val="380"/>
              </a:spcBef>
              <a:buNone/>
              <a:tabLst>
                <a:tab algn="l" pos="0"/>
              </a:tabLst>
            </a:pPr>
            <a:endParaRPr b="0" lang="en-US" sz="1900" spc="-1" strike="noStrike">
              <a:latin typeface="Arial"/>
            </a:endParaRPr>
          </a:p>
          <a:p>
            <a:pPr algn="ctr">
              <a:lnSpc>
                <a:spcPct val="100000"/>
              </a:lnSpc>
              <a:spcBef>
                <a:spcPts val="380"/>
              </a:spcBef>
              <a:buNone/>
              <a:tabLst>
                <a:tab algn="l" pos="0"/>
              </a:tabLst>
            </a:pPr>
            <a:r>
              <a:rPr b="0" lang="en-US" sz="1900" spc="-1" strike="noStrike">
                <a:solidFill>
                  <a:srgbClr val="ffffff"/>
                </a:solidFill>
                <a:latin typeface="Liberation Sans Narrow"/>
                <a:ea typeface="Liberation Sans Narrow"/>
              </a:rPr>
              <a:t>TRiO SSS</a:t>
            </a:r>
            <a:endParaRPr b="0" lang="en-US" sz="1900" spc="-1" strike="noStrike">
              <a:latin typeface="Arial"/>
            </a:endParaRPr>
          </a:p>
        </p:txBody>
      </p:sp>
      <p:sp>
        <p:nvSpPr>
          <p:cNvPr id="183" name="PlaceHolder 2"/>
          <p:cNvSpPr>
            <a:spLocks noGrp="1"/>
          </p:cNvSpPr>
          <p:nvPr>
            <p:ph type="title"/>
          </p:nvPr>
        </p:nvSpPr>
        <p:spPr>
          <a:xfrm>
            <a:off x="1676520" y="990720"/>
            <a:ext cx="3846960" cy="1827720"/>
          </a:xfrm>
          <a:prstGeom prst="rect">
            <a:avLst/>
          </a:prstGeom>
          <a:noFill/>
          <a:ln w="0">
            <a:noFill/>
          </a:ln>
        </p:spPr>
        <p:txBody>
          <a:bodyPr lIns="0" rIns="0" tIns="0" bIns="0" anchor="ctr">
            <a:noAutofit/>
          </a:bodyPr>
          <a:p>
            <a:pPr algn="ctr">
              <a:lnSpc>
                <a:spcPct val="100000"/>
              </a:lnSpc>
              <a:buNone/>
              <a:tabLst>
                <a:tab algn="l" pos="0"/>
              </a:tabLst>
            </a:pPr>
            <a:r>
              <a:rPr b="0" lang="en-US" sz="4200" spc="-1" strike="noStrike">
                <a:solidFill>
                  <a:srgbClr val="ffffff"/>
                </a:solidFill>
                <a:latin typeface="Liberation Sans Narrow"/>
                <a:ea typeface="Liberation Sans Narrow"/>
              </a:rPr>
              <a:t>NOTE TAKING STRATEGIES</a:t>
            </a:r>
            <a:endParaRPr b="0" lang="en-US" sz="4200" spc="-1" strike="noStrike">
              <a:latin typeface="Arial"/>
            </a:endParaRPr>
          </a:p>
        </p:txBody>
      </p:sp>
      <p:pic>
        <p:nvPicPr>
          <p:cNvPr id="184" name="Google Shape;106;p1" descr="C:\Users\rc8539\AppData\Local\Microsoft\Windows\Temporary Internet Files\Content.IE5\BT5T47B8\shutterstock_64481404[1].jpg"/>
          <p:cNvPicPr/>
          <p:nvPr/>
        </p:nvPicPr>
        <p:blipFill>
          <a:blip r:embed="rId1"/>
          <a:stretch/>
        </p:blipFill>
        <p:spPr>
          <a:xfrm>
            <a:off x="1066680" y="2895480"/>
            <a:ext cx="5104440" cy="3404160"/>
          </a:xfrm>
          <a:prstGeom prst="rect">
            <a:avLst/>
          </a:prstGeom>
          <a:ln w="0">
            <a:noFill/>
          </a:ln>
        </p:spPr>
      </p:pic>
      <p:pic>
        <p:nvPicPr>
          <p:cNvPr id="185" name="Google Shape;107;p1" descr=""/>
          <p:cNvPicPr/>
          <p:nvPr/>
        </p:nvPicPr>
        <p:blipFill>
          <a:blip r:embed="rId2"/>
          <a:stretch/>
        </p:blipFill>
        <p:spPr>
          <a:xfrm>
            <a:off x="7315200" y="5105520"/>
            <a:ext cx="1541160" cy="1370520"/>
          </a:xfrm>
          <a:prstGeom prst="rect">
            <a:avLst/>
          </a:prstGeom>
          <a:ln w="0">
            <a:noFill/>
          </a:ln>
        </p:spPr>
      </p:pic>
      <p:pic>
        <p:nvPicPr>
          <p:cNvPr id="186" name="Google Shape;108;p1" descr=""/>
          <p:cNvPicPr/>
          <p:nvPr/>
        </p:nvPicPr>
        <p:blipFill>
          <a:blip r:embed="rId3"/>
          <a:stretch/>
        </p:blipFill>
        <p:spPr>
          <a:xfrm>
            <a:off x="7284600" y="257040"/>
            <a:ext cx="1528200" cy="7038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Note taking from lecture</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typing or writing</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a format</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Capture main ideas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Assistive technology/ accommodations</a:t>
            </a:r>
            <a:endParaRPr b="0" lang="en-US"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Note taking from text</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Develop your personal system</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Capturing main ideas</a:t>
            </a:r>
            <a:endParaRPr b="0" lang="en-US" sz="2600" spc="-1" strike="noStrike">
              <a:latin typeface="Arial"/>
            </a:endParaRPr>
          </a:p>
        </p:txBody>
      </p:sp>
      <p:sp>
        <p:nvSpPr>
          <p:cNvPr id="188"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2800" spc="-1" strike="noStrike">
                <a:solidFill>
                  <a:srgbClr val="ffffff"/>
                </a:solidFill>
                <a:latin typeface="Liberation Sans Narrow"/>
                <a:ea typeface="Liberation Sans Narrow"/>
              </a:rPr>
              <a:t>OVERVIEW OF WORKSHOP</a:t>
            </a:r>
            <a:endParaRPr b="0" lang="en-US" sz="2800" spc="-1" strike="noStrike">
              <a:latin typeface="Arial"/>
            </a:endParaRPr>
          </a:p>
        </p:txBody>
      </p:sp>
      <p:pic>
        <p:nvPicPr>
          <p:cNvPr id="189" name="Google Shape;117;p2" descr="C:\Users\Liz\AppData\Local\Microsoft\Windows\Temporary Internet Files\Content.IE5\KNH3IKME\MC900433868[1].png"/>
          <p:cNvPicPr/>
          <p:nvPr/>
        </p:nvPicPr>
        <p:blipFill>
          <a:blip r:embed="rId1"/>
          <a:stretch/>
        </p:blipFill>
        <p:spPr>
          <a:xfrm>
            <a:off x="5973120" y="3962520"/>
            <a:ext cx="2589840" cy="2589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should I organize my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keep up with the professor?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can I concentrate on what the professor is saying, participate AND take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summarize a lecture?</a:t>
            </a:r>
            <a:endParaRPr b="0" lang="en-US" sz="2800" spc="-1" strike="noStrike">
              <a:latin typeface="Arial"/>
            </a:endParaRPr>
          </a:p>
        </p:txBody>
      </p:sp>
      <p:sp>
        <p:nvSpPr>
          <p:cNvPr id="19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THE CHALLENGES OF TAKING NOTES FROM A LECTURE</a:t>
            </a:r>
            <a:endParaRPr b="0" lang="en-US" sz="3200" spc="-1" strike="noStrike">
              <a:latin typeface="Arial"/>
            </a:endParaRPr>
          </a:p>
        </p:txBody>
      </p:sp>
      <p:pic>
        <p:nvPicPr>
          <p:cNvPr id="192" name="Google Shape;126;p3" descr="C:\Users\rc8539\AppData\Local\Microsoft\Windows\Temporary Internet Files\Content.IE5\2FI13YUL\taking_notes[1].jpg"/>
          <p:cNvPicPr/>
          <p:nvPr/>
        </p:nvPicPr>
        <p:blipFill>
          <a:blip r:embed="rId1"/>
          <a:stretch/>
        </p:blipFill>
        <p:spPr>
          <a:xfrm>
            <a:off x="6400800" y="4495680"/>
            <a:ext cx="2178360" cy="1856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19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rm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A LECTURE</a:t>
            </a:r>
            <a:endParaRPr b="0" lang="en-US" sz="4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Benefits of typing</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Benefits of writing</a:t>
            </a:r>
            <a:endParaRPr b="0" lang="en-US" sz="2800" spc="-1" strike="noStrike">
              <a:latin typeface="Arial"/>
            </a:endParaRPr>
          </a:p>
        </p:txBody>
      </p:sp>
      <p:sp>
        <p:nvSpPr>
          <p:cNvPr id="19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FORMATTING YOUR NOTES:</a:t>
            </a:r>
            <a:br>
              <a:rPr sz="3200"/>
            </a:br>
            <a:r>
              <a:rPr b="0" lang="en-US" sz="3200" spc="-1" strike="noStrike">
                <a:solidFill>
                  <a:srgbClr val="ffffff"/>
                </a:solidFill>
                <a:latin typeface="Liberation Sans Narrow"/>
                <a:ea typeface="Liberation Sans Narrow"/>
              </a:rPr>
              <a:t> TO TYPE OR NOT TO TYPE….</a:t>
            </a:r>
            <a:endParaRPr b="0" lang="en-US" sz="3200" spc="-1" strike="noStrike">
              <a:latin typeface="Arial"/>
            </a:endParaRPr>
          </a:p>
        </p:txBody>
      </p:sp>
      <p:pic>
        <p:nvPicPr>
          <p:cNvPr id="197" name="Google Shape;143;p5" descr="C:\Users\Liz\AppData\Local\Microsoft\Windows\Temporary Internet Files\Content.IE5\9I32KKJ7\MC900431595[1].png"/>
          <p:cNvPicPr/>
          <p:nvPr/>
        </p:nvPicPr>
        <p:blipFill>
          <a:blip r:embed="rId1"/>
          <a:stretch/>
        </p:blipFill>
        <p:spPr>
          <a:xfrm>
            <a:off x="5638680" y="3817440"/>
            <a:ext cx="2361240" cy="2361240"/>
          </a:xfrm>
          <a:prstGeom prst="rect">
            <a:avLst/>
          </a:prstGeom>
          <a:ln w="0">
            <a:noFill/>
          </a:ln>
          <a:effectLst>
            <a:outerShdw algn="tl" blurRad="190440" rotWithShape="0">
              <a:srgbClr val="000000">
                <a:alpha val="70000"/>
              </a:srgbClr>
            </a:outerShdw>
          </a:effectLst>
        </p:spPr>
      </p:pic>
      <p:pic>
        <p:nvPicPr>
          <p:cNvPr id="198" name="Google Shape;144;p5" descr="C:\Users\Liz\AppData\Local\Microsoft\Windows\Temporary Internet Files\Content.IE5\KNH3IKME\MC900238023[1].wmf"/>
          <p:cNvPicPr/>
          <p:nvPr/>
        </p:nvPicPr>
        <p:blipFill>
          <a:blip r:embed="rId2"/>
          <a:stretch/>
        </p:blipFill>
        <p:spPr>
          <a:xfrm>
            <a:off x="1523880" y="4191120"/>
            <a:ext cx="2684880" cy="18882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151;p6" descr=""/>
          <p:cNvPicPr/>
          <p:nvPr/>
        </p:nvPicPr>
        <p:blipFill>
          <a:blip r:embed="rId1"/>
          <a:stretch/>
        </p:blipFill>
        <p:spPr>
          <a:xfrm>
            <a:off x="1066680" y="1752480"/>
            <a:ext cx="7086960" cy="4758120"/>
          </a:xfrm>
          <a:prstGeom prst="rect">
            <a:avLst/>
          </a:prstGeom>
          <a:ln cap="sq" w="88900">
            <a:solidFill>
              <a:srgbClr val="000000"/>
            </a:solidFill>
            <a:miter/>
          </a:ln>
        </p:spPr>
      </p:pic>
      <p:sp>
        <p:nvSpPr>
          <p:cNvPr id="200"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MICROSOFT ONE NOTE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Google Shape;157;p7" descr=""/>
          <p:cNvPicPr/>
          <p:nvPr/>
        </p:nvPicPr>
        <p:blipFill>
          <a:blip r:embed="rId1"/>
          <a:stretch/>
        </p:blipFill>
        <p:spPr>
          <a:xfrm>
            <a:off x="380880" y="1720800"/>
            <a:ext cx="8406360" cy="4402800"/>
          </a:xfrm>
          <a:prstGeom prst="rect">
            <a:avLst/>
          </a:prstGeom>
          <a:ln w="0">
            <a:noFill/>
          </a:ln>
        </p:spPr>
      </p:pic>
      <p:sp>
        <p:nvSpPr>
          <p:cNvPr id="20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EVERNOTE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80880" y="355680"/>
            <a:ext cx="8380080" cy="1053360"/>
          </a:xfrm>
          <a:prstGeom prst="rect">
            <a:avLst/>
          </a:prstGeom>
          <a:noFill/>
          <a:ln w="0">
            <a:noFill/>
          </a:ln>
        </p:spPr>
        <p:txBody>
          <a:bodyPr lIns="0" rIns="0" tIns="0" bIns="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SONOCENT</a:t>
            </a:r>
            <a:endParaRPr b="0" lang="en-US" sz="3200" spc="-1" strike="noStrike">
              <a:latin typeface="Arial"/>
            </a:endParaRPr>
          </a:p>
        </p:txBody>
      </p:sp>
      <p:pic>
        <p:nvPicPr>
          <p:cNvPr id="204" name="Google Shape;164;p8" descr=""/>
          <p:cNvPicPr/>
          <p:nvPr/>
        </p:nvPicPr>
        <p:blipFill>
          <a:blip r:embed="rId1"/>
          <a:stretch/>
        </p:blipFill>
        <p:spPr>
          <a:xfrm>
            <a:off x="1066680" y="1371600"/>
            <a:ext cx="7215840" cy="51969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p:nvPr>
        </p:nvSpPr>
        <p:spPr>
          <a:xfrm>
            <a:off x="380880" y="1719000"/>
            <a:ext cx="220860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000" spc="-1" strike="noStrike">
                <a:solidFill>
                  <a:srgbClr val="534949"/>
                </a:solidFill>
                <a:latin typeface="Liberation Sans Narrow"/>
                <a:ea typeface="Liberation Sans Narrow"/>
              </a:rPr>
              <a:t>AudioNote- $2.99 (I Pad), $4.99 (Mac)</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Notability- $2.99 (I Pad and Mac)</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Google Docs</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MS Word</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PowerPoint</a:t>
            </a:r>
            <a:endParaRPr b="0" lang="en-US" sz="20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0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OTHER TECH OPTIONS</a:t>
            </a:r>
            <a:endParaRPr b="0" lang="en-US" sz="3200" spc="-1" strike="noStrike">
              <a:latin typeface="Arial"/>
            </a:endParaRPr>
          </a:p>
        </p:txBody>
      </p:sp>
      <p:pic>
        <p:nvPicPr>
          <p:cNvPr id="207" name="Google Shape;171;p9" descr=""/>
          <p:cNvPicPr/>
          <p:nvPr/>
        </p:nvPicPr>
        <p:blipFill>
          <a:blip r:embed="rId1"/>
          <a:stretch/>
        </p:blipFill>
        <p:spPr>
          <a:xfrm>
            <a:off x="2590920" y="1676520"/>
            <a:ext cx="2715120" cy="4647240"/>
          </a:xfrm>
          <a:prstGeom prst="rect">
            <a:avLst/>
          </a:prstGeom>
          <a:ln w="0">
            <a:noFill/>
          </a:ln>
        </p:spPr>
      </p:pic>
      <p:pic>
        <p:nvPicPr>
          <p:cNvPr id="208" name="Google Shape;172;p9" descr=""/>
          <p:cNvPicPr/>
          <p:nvPr/>
        </p:nvPicPr>
        <p:blipFill>
          <a:blip r:embed="rId2"/>
          <a:stretch/>
        </p:blipFill>
        <p:spPr>
          <a:xfrm>
            <a:off x="6019920" y="1711440"/>
            <a:ext cx="2595960" cy="4611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p:nvPr>
        </p:nvSpPr>
        <p:spPr>
          <a:xfrm>
            <a:off x="380880" y="1719000"/>
            <a:ext cx="8406720" cy="475668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Modifying your notes to fit the course</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look at materials the professor gives you</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Separating main ideas and sub-points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Avoid writing all your notes continuously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Formats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The “half page” technique</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Outline form</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Cornell Style</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Write on PowerPoint print outs</a:t>
            </a:r>
            <a:endParaRPr b="0" lang="en-US" sz="2600" spc="-1" strike="noStrike">
              <a:latin typeface="Arial"/>
            </a:endParaRPr>
          </a:p>
        </p:txBody>
      </p:sp>
      <p:sp>
        <p:nvSpPr>
          <p:cNvPr id="21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SHOULD I ORGANIZE MY NOTES?</a:t>
            </a:r>
            <a:endParaRPr b="0" lang="en-US" sz="3200" spc="-1" strike="noStrike">
              <a:latin typeface="Arial"/>
            </a:endParaRPr>
          </a:p>
        </p:txBody>
      </p:sp>
      <p:pic>
        <p:nvPicPr>
          <p:cNvPr id="211" name="Google Shape;181;p10" descr="C:\Users\rc8539\AppData\Local\Microsoft\Windows\Temporary Internet Files\Content.IE5\H2EM2JDT\pen_and_paper[1].JPG"/>
          <p:cNvPicPr/>
          <p:nvPr/>
        </p:nvPicPr>
        <p:blipFill>
          <a:blip r:embed="rId1"/>
          <a:stretch/>
        </p:blipFill>
        <p:spPr>
          <a:xfrm>
            <a:off x="6400800" y="4038480"/>
            <a:ext cx="2132640" cy="2283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Google Shape;188;p11" descr=""/>
          <p:cNvPicPr/>
          <p:nvPr/>
        </p:nvPicPr>
        <p:blipFill>
          <a:blip r:embed="rId1"/>
          <a:stretch/>
        </p:blipFill>
        <p:spPr>
          <a:xfrm>
            <a:off x="2438280" y="1752480"/>
            <a:ext cx="4358880" cy="4833000"/>
          </a:xfrm>
          <a:prstGeom prst="rect">
            <a:avLst/>
          </a:prstGeom>
          <a:ln cap="sq" w="88900">
            <a:solidFill>
              <a:srgbClr val="000000"/>
            </a:solidFill>
            <a:miter/>
          </a:ln>
        </p:spPr>
      </p:pic>
      <p:sp>
        <p:nvSpPr>
          <p:cNvPr id="213"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HALF PAGE TECHNIQUE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Google Shape;196;p12" descr=""/>
          <p:cNvPicPr/>
          <p:nvPr/>
        </p:nvPicPr>
        <p:blipFill>
          <a:blip r:embed="rId1"/>
          <a:stretch/>
        </p:blipFill>
        <p:spPr>
          <a:xfrm>
            <a:off x="2057400" y="1752480"/>
            <a:ext cx="4886280" cy="4833000"/>
          </a:xfrm>
          <a:prstGeom prst="rect">
            <a:avLst/>
          </a:prstGeom>
          <a:ln cap="sq" w="88900">
            <a:solidFill>
              <a:srgbClr val="000000"/>
            </a:solidFill>
            <a:miter/>
          </a:ln>
        </p:spPr>
      </p:pic>
      <p:sp>
        <p:nvSpPr>
          <p:cNvPr id="215"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OUTLINE FORM</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Google Shape;204;p13" descr=""/>
          <p:cNvPicPr/>
          <p:nvPr/>
        </p:nvPicPr>
        <p:blipFill>
          <a:blip r:embed="rId1"/>
          <a:stretch/>
        </p:blipFill>
        <p:spPr>
          <a:xfrm>
            <a:off x="2629440" y="1752480"/>
            <a:ext cx="3741840" cy="4833000"/>
          </a:xfrm>
          <a:prstGeom prst="rect">
            <a:avLst/>
          </a:prstGeom>
          <a:ln cap="sq" w="88900">
            <a:solidFill>
              <a:srgbClr val="000000"/>
            </a:solidFill>
            <a:miter/>
          </a:ln>
        </p:spPr>
      </p:pic>
      <p:sp>
        <p:nvSpPr>
          <p:cNvPr id="217"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CORNELL STYLE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PRINTING POWER POINTS FOR NOTE TAKING</a:t>
            </a:r>
            <a:endParaRPr b="0" lang="en-US" sz="3200" spc="-1" strike="noStrike">
              <a:latin typeface="Arial"/>
            </a:endParaRPr>
          </a:p>
        </p:txBody>
      </p:sp>
      <p:pic>
        <p:nvPicPr>
          <p:cNvPr id="219" name="Google Shape;213;p14" descr="C:\Users\rc8539\AppData\Local\Microsoft\Windows\Temporary Internet Files\Content.IE5\2FI13YUL\Microsoft_Powerpoint[1].png"/>
          <p:cNvPicPr/>
          <p:nvPr/>
        </p:nvPicPr>
        <p:blipFill>
          <a:blip r:embed="rId1"/>
          <a:stretch/>
        </p:blipFill>
        <p:spPr>
          <a:xfrm>
            <a:off x="3365640" y="2703600"/>
            <a:ext cx="2437200" cy="24372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380880" y="1719000"/>
            <a:ext cx="8406720" cy="49093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3000" spc="-1" strike="noStrike">
                <a:solidFill>
                  <a:srgbClr val="534949"/>
                </a:solidFill>
                <a:latin typeface="Liberation Sans Narrow"/>
                <a:ea typeface="Liberation Sans Narrow"/>
              </a:rPr>
              <a:t>Prepare beforehand</a:t>
            </a:r>
            <a:endParaRPr b="0" lang="en-US"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Make use of materials the professor gives you!</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Do reading </a:t>
            </a:r>
            <a:r>
              <a:rPr b="0" i="1" lang="en-US" sz="2800" spc="-1" strike="noStrike">
                <a:solidFill>
                  <a:srgbClr val="534949"/>
                </a:solidFill>
                <a:latin typeface="Liberation Sans Narrow"/>
                <a:ea typeface="Liberation Sans Narrow"/>
              </a:rPr>
              <a:t>before </a:t>
            </a:r>
            <a:r>
              <a:rPr b="0" lang="en-US" sz="2800" spc="-1" strike="noStrike">
                <a:solidFill>
                  <a:srgbClr val="534949"/>
                </a:solidFill>
                <a:latin typeface="Liberation Sans Narrow"/>
                <a:ea typeface="Liberation Sans Narrow"/>
              </a:rPr>
              <a:t>corresponding lecture</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Read the lecture slides </a:t>
            </a:r>
            <a:r>
              <a:rPr b="0" i="1" lang="en-US" sz="2800" spc="-1" strike="noStrike">
                <a:solidFill>
                  <a:srgbClr val="534949"/>
                </a:solidFill>
                <a:latin typeface="Liberation Sans Narrow"/>
                <a:ea typeface="Liberation Sans Narrow"/>
              </a:rPr>
              <a:t>before lecture</a:t>
            </a:r>
            <a:endParaRPr b="0" lang="en-US" sz="2800" spc="-1" strike="noStrike">
              <a:latin typeface="Arial"/>
            </a:endParaRPr>
          </a:p>
          <a:p>
            <a:pPr marL="274320" indent="-228600">
              <a:lnSpc>
                <a:spcPct val="100000"/>
              </a:lnSpc>
              <a:spcBef>
                <a:spcPts val="601"/>
              </a:spcBef>
              <a:buClr>
                <a:srgbClr val="c66951"/>
              </a:buClr>
              <a:buFont typeface="Noto Sans Symbols"/>
              <a:buChar char="◼"/>
            </a:pPr>
            <a:r>
              <a:rPr b="0" lang="en-US" sz="3000" spc="-1" strike="noStrike">
                <a:solidFill>
                  <a:srgbClr val="534949"/>
                </a:solidFill>
                <a:latin typeface="Liberation Sans Narrow"/>
                <a:ea typeface="Liberation Sans Narrow"/>
              </a:rPr>
              <a:t>Other techniques</a:t>
            </a:r>
            <a:endParaRPr b="0" lang="en-US"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Practice selecting a main idea in reading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Go back and listen to audio recordings of lecture to practice</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Listen for key terms and changes in key terms</a:t>
            </a:r>
            <a:endParaRPr b="0" lang="en-US" sz="2800" spc="-1" strike="noStrike">
              <a:latin typeface="Arial"/>
            </a:endParaRPr>
          </a:p>
          <a:p>
            <a:pPr marL="274320" indent="-38160">
              <a:lnSpc>
                <a:spcPct val="100000"/>
              </a:lnSpc>
              <a:spcBef>
                <a:spcPts val="601"/>
              </a:spcBef>
              <a:buNone/>
              <a:tabLst>
                <a:tab algn="l" pos="0"/>
              </a:tabLst>
            </a:pPr>
            <a:endParaRPr b="0" lang="en-US" sz="3000" spc="-1" strike="noStrike">
              <a:latin typeface="Arial"/>
            </a:endParaRPr>
          </a:p>
        </p:txBody>
      </p:sp>
      <p:sp>
        <p:nvSpPr>
          <p:cNvPr id="22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7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KNOW WHEN THE PROFESSOR FINISHES ONE MAIN POINT AND MOVES ONTO THE NEXT?</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304920" algn="ctr">
              <a:lnSpc>
                <a:spcPct val="100000"/>
              </a:lnSpc>
              <a:buClr>
                <a:srgbClr val="c66951"/>
              </a:buClr>
              <a:buFont typeface="Noto Sans Symbols"/>
              <a:buChar char="◼"/>
            </a:pPr>
            <a:r>
              <a:rPr b="0" lang="en-US" sz="4800" spc="-1" strike="noStrike">
                <a:solidFill>
                  <a:srgbClr val="534949"/>
                </a:solidFill>
                <a:latin typeface="Liberation Sans Narrow"/>
                <a:ea typeface="Liberation Sans Narrow"/>
              </a:rPr>
              <a:t>If you’d like additional help with this… ask! We have another workshop!</a:t>
            </a:r>
            <a:endParaRPr b="0" lang="en-US" sz="4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23"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SELECTING THE MAIN IDEA</a:t>
            </a:r>
            <a:endParaRPr b="0" lang="en-US" sz="3200" spc="-1" strike="noStrike">
              <a:latin typeface="Arial"/>
            </a:endParaRPr>
          </a:p>
        </p:txBody>
      </p:sp>
      <p:pic>
        <p:nvPicPr>
          <p:cNvPr id="224" name="Google Shape;228;p16" descr="C:\Users\rc8539\AppData\Local\Microsoft\Windows\Temporary Internet Files\Content.IE5\FH03BZM6\lupa222[1].jpg"/>
          <p:cNvPicPr/>
          <p:nvPr/>
        </p:nvPicPr>
        <p:blipFill>
          <a:blip r:embed="rId1"/>
          <a:stretch/>
        </p:blipFill>
        <p:spPr>
          <a:xfrm>
            <a:off x="3124080" y="4038480"/>
            <a:ext cx="2532600" cy="2532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abbreviations- keep them consistent</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Consider typing</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Compare notes with a classmate to see if you missed any key points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assistive technology</a:t>
            </a:r>
            <a:endParaRPr b="0" lang="en-US" sz="2800" spc="-1" strike="noStrike">
              <a:latin typeface="Arial"/>
            </a:endParaRPr>
          </a:p>
        </p:txBody>
      </p:sp>
      <p:sp>
        <p:nvSpPr>
          <p:cNvPr id="22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KEEP UP WITH MY PROFESSOR?</a:t>
            </a:r>
            <a:endParaRPr b="0" lang="en-US" sz="3200" spc="-1" strike="noStrike">
              <a:latin typeface="Arial"/>
            </a:endParaRPr>
          </a:p>
        </p:txBody>
      </p:sp>
      <p:sp>
        <p:nvSpPr>
          <p:cNvPr id="227" name="Google Shape;237;p17"/>
          <p:cNvSpPr/>
          <p:nvPr/>
        </p:nvSpPr>
        <p:spPr>
          <a:xfrm>
            <a:off x="6019920" y="3962520"/>
            <a:ext cx="2213280" cy="2262600"/>
          </a:xfrm>
          <a:prstGeom prst="round2DiagRect">
            <a:avLst>
              <a:gd name="adj1" fmla="val 16667"/>
              <a:gd name="adj2" fmla="val 0"/>
            </a:avLst>
          </a:prstGeom>
          <a:blipFill rotWithShape="0">
            <a:blip r:embed="rId1"/>
            <a:srcRect/>
            <a:stretch/>
          </a:blipFill>
          <a:ln cap="sq" w="88900">
            <a:solidFill>
              <a:srgbClr val="ffffff"/>
            </a:solidFill>
            <a:miter/>
          </a:ln>
          <a:effectLst>
            <a:outerShdw algn="tl" blurRad="254160" rotWithShape="0">
              <a:srgbClr val="000000">
                <a:alpha val="43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The challenge of doing two things at once</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Talk to your professor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Accommodations- Discuss with your AS counselor</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Have a note taker</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Assistive Technology</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Voice Recorders</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Livescribe Smart Pen</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Sonocent</a:t>
            </a:r>
            <a:endParaRPr b="0" lang="en-US" sz="2800" spc="-1" strike="noStrike">
              <a:latin typeface="Arial"/>
            </a:endParaRPr>
          </a:p>
          <a:p>
            <a:pPr marL="548640" indent="-68760">
              <a:lnSpc>
                <a:spcPct val="100000"/>
              </a:lnSpc>
              <a:spcBef>
                <a:spcPts val="360"/>
              </a:spcBef>
              <a:buNone/>
              <a:tabLst>
                <a:tab algn="l" pos="0"/>
              </a:tabLst>
            </a:pPr>
            <a:endParaRPr b="0" lang="en-US" sz="1800" spc="-1" strike="noStrike">
              <a:latin typeface="Arial"/>
            </a:endParaRPr>
          </a:p>
        </p:txBody>
      </p:sp>
      <p:sp>
        <p:nvSpPr>
          <p:cNvPr id="22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HELP! HOW CAN I ACTIVELY LISTEN, TAKE NOTES, AND PARTICIPATE?</a:t>
            </a:r>
            <a:endParaRPr b="0" lang="en-US" sz="3200" spc="-1" strike="noStrike">
              <a:latin typeface="Arial"/>
            </a:endParaRPr>
          </a:p>
        </p:txBody>
      </p:sp>
      <p:pic>
        <p:nvPicPr>
          <p:cNvPr id="230" name="Google Shape;246;p18" descr="C:\Users\Liz\AppData\Local\Microsoft\Windows\Temporary Internet Files\Content.IE5\SBCUCH7C\MC900216942[1].wmf"/>
          <p:cNvPicPr/>
          <p:nvPr/>
        </p:nvPicPr>
        <p:blipFill>
          <a:blip r:embed="rId1"/>
          <a:stretch/>
        </p:blipFill>
        <p:spPr>
          <a:xfrm>
            <a:off x="5334120" y="3429000"/>
            <a:ext cx="2889000" cy="28818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Google Shape;253;p19" descr="Pulse-Smartpen-468.jpg"/>
          <p:cNvPicPr/>
          <p:nvPr/>
        </p:nvPicPr>
        <p:blipFill>
          <a:blip r:embed="rId1"/>
          <a:stretch/>
        </p:blipFill>
        <p:spPr>
          <a:xfrm>
            <a:off x="2362320" y="1905120"/>
            <a:ext cx="4340880" cy="4405680"/>
          </a:xfrm>
          <a:prstGeom prst="rect">
            <a:avLst/>
          </a:prstGeom>
          <a:ln cap="sq" w="38100">
            <a:solidFill>
              <a:srgbClr val="000000"/>
            </a:solidFill>
            <a:miter/>
          </a:ln>
          <a:effectLst>
            <a:outerShdw algn="tl" blurRad="50760" dir="2700000" dist="37674" rotWithShape="0">
              <a:srgbClr val="000000">
                <a:alpha val="43000"/>
              </a:srgbClr>
            </a:outerShdw>
          </a:effectLst>
        </p:spPr>
      </p:pic>
      <p:sp>
        <p:nvSpPr>
          <p:cNvPr id="23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SMART PEN</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much you write depends on several things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Your own ability to juggle writing while listening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Are you using a voice recorder or smart pen?</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Did your professor provide PPT slides?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Was there a topic you were confused about in the reading?</a:t>
            </a:r>
            <a:endParaRPr b="0" lang="en-US" sz="2800" spc="-1" strike="noStrike">
              <a:latin typeface="Arial"/>
            </a:endParaRPr>
          </a:p>
        </p:txBody>
      </p:sp>
      <p:sp>
        <p:nvSpPr>
          <p:cNvPr id="23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SUMMARIZE A LECTURE? SHOULD I WRITE EVERYTHING THE PROFESSOR SAYS?</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Immediately after class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Star information, put question marks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Five minute essay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Reorganizing notes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Rewrite in better format/ Adjust formatting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Use different colored fonts and pens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Note Key Terms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Numbering Lists</a:t>
            </a:r>
            <a:endParaRPr b="0" lang="en-US" sz="2600" spc="-1" strike="noStrike">
              <a:latin typeface="Arial"/>
            </a:endParaRPr>
          </a:p>
        </p:txBody>
      </p:sp>
      <p:sp>
        <p:nvSpPr>
          <p:cNvPr id="23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a:t>
            </a:r>
            <a:endParaRPr b="0" lang="en-US" sz="3200" spc="-1" strike="noStrike">
              <a:latin typeface="Arial"/>
            </a:endParaRPr>
          </a:p>
        </p:txBody>
      </p:sp>
      <p:pic>
        <p:nvPicPr>
          <p:cNvPr id="237" name="Google Shape;271;p21" descr="C:\Users\Liz\AppData\Local\Microsoft\Windows\Temporary Internet Files\Content.IE5\9I32KKJ7\MC900290519[1].wmf"/>
          <p:cNvPicPr/>
          <p:nvPr/>
        </p:nvPicPr>
        <p:blipFill>
          <a:blip r:embed="rId1"/>
          <a:stretch/>
        </p:blipFill>
        <p:spPr>
          <a:xfrm>
            <a:off x="7238880" y="4769640"/>
            <a:ext cx="1446840" cy="16891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For the over-zealous note taker…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 the over-burdened note taker…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Making use of accommodations</a:t>
            </a:r>
            <a:endParaRPr b="0" lang="en-US" sz="2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3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5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 (CONTD.)</a:t>
            </a:r>
            <a:endParaRPr b="0" lang="en-US" sz="3200" spc="-1" strike="noStrike">
              <a:latin typeface="Arial"/>
            </a:endParaRPr>
          </a:p>
        </p:txBody>
      </p:sp>
      <p:pic>
        <p:nvPicPr>
          <p:cNvPr id="240" name="Google Shape;280;p22" descr="C:\Users\Liz\AppData\Local\Microsoft\Windows\Temporary Internet Files\Content.IE5\SBCUCH7C\MC900060290[1].wmf"/>
          <p:cNvPicPr/>
          <p:nvPr/>
        </p:nvPicPr>
        <p:blipFill>
          <a:blip r:embed="rId1"/>
          <a:stretch/>
        </p:blipFill>
        <p:spPr>
          <a:xfrm>
            <a:off x="2971800" y="3276720"/>
            <a:ext cx="3060000" cy="3153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242"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TEXT</a:t>
            </a:r>
            <a:endParaRPr b="0" lang="en-US" sz="4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I really need to take notes from my text book? </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know what to take notes on?</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avoid “re-writing” the book?</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Taking notes from a text seems to take forever! How can I make this process quicker?</a:t>
            </a:r>
            <a:endParaRPr b="0" lang="en-US" sz="2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4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CHALLENGES OF TAKING NOTES FROM TEXT</a:t>
            </a:r>
            <a:endParaRPr b="0" lang="en-US" sz="3200" spc="-1" strike="noStrike">
              <a:latin typeface="Arial"/>
            </a:endParaRPr>
          </a:p>
        </p:txBody>
      </p:sp>
      <p:pic>
        <p:nvPicPr>
          <p:cNvPr id="245" name="Google Shape;297;p24" descr="C:\Users\rc8539\AppData\Local\Microsoft\Windows\Temporary Internet Files\Content.IE5\2RBMDPUQ\Questionmark[1].jpg"/>
          <p:cNvPicPr/>
          <p:nvPr/>
        </p:nvPicPr>
        <p:blipFill>
          <a:blip r:embed="rId1"/>
          <a:stretch/>
        </p:blipFill>
        <p:spPr>
          <a:xfrm>
            <a:off x="7238880" y="4648320"/>
            <a:ext cx="1486080" cy="1857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you want to annotate your book or take separate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 going to underline/ highlight?</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your books digital or traditional?</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Do you want to use an app or assistive technology?</a:t>
            </a:r>
            <a:endParaRPr b="0" lang="en-US" sz="2800" spc="-1" strike="noStrike">
              <a:latin typeface="Arial"/>
            </a:endParaRPr>
          </a:p>
        </p:txBody>
      </p:sp>
      <p:sp>
        <p:nvSpPr>
          <p:cNvPr id="247"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DEVELOP YOUR PERSONAL SYSTEM</a:t>
            </a:r>
            <a:endParaRPr b="0" lang="en-US" sz="3200" spc="-1" strike="noStrike">
              <a:latin typeface="Arial"/>
            </a:endParaRPr>
          </a:p>
        </p:txBody>
      </p:sp>
      <p:pic>
        <p:nvPicPr>
          <p:cNvPr id="248" name="Google Shape;306;p25" descr="C:\Users\rc8539\AppData\Local\Microsoft\Windows\Temporary Internet Files\Content.IE5\3P2MXG1P\thinkingcapwhoa[1].gif"/>
          <p:cNvPicPr/>
          <p:nvPr/>
        </p:nvPicPr>
        <p:blipFill>
          <a:blip r:embed="rId1"/>
          <a:stretch/>
        </p:blipFill>
        <p:spPr>
          <a:xfrm>
            <a:off x="6934320" y="4419720"/>
            <a:ext cx="1675440" cy="19710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Identify the main idea of a paragraph</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If you want to underline/ highlight- only mark this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the margin</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your notes</a:t>
            </a:r>
            <a:endParaRPr b="0" lang="en-US"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put information in your own words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Keep it short and to the point</a:t>
            </a:r>
            <a:endParaRPr b="0" lang="en-US" sz="2800" spc="-1" strike="noStrike">
              <a:latin typeface="Arial"/>
            </a:endParaRPr>
          </a:p>
        </p:txBody>
      </p:sp>
      <p:sp>
        <p:nvSpPr>
          <p:cNvPr id="25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SHOULD I TAKE NOTES ON? </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the books structure</a:t>
            </a:r>
            <a:endParaRPr b="0" lang="en-US" sz="2800" spc="-1" strike="noStrike">
              <a:latin typeface="Arial"/>
            </a:endParaRPr>
          </a:p>
          <a:p>
            <a:pPr lvl="1" marL="548640" indent="-182880">
              <a:lnSpc>
                <a:spcPct val="100000"/>
              </a:lnSpc>
              <a:spcBef>
                <a:spcPts val="479"/>
              </a:spcBef>
              <a:buClr>
                <a:srgbClr val="bf974d"/>
              </a:buClr>
              <a:buFont typeface="Noto Sans Symbols"/>
              <a:buChar char="▪"/>
            </a:pPr>
            <a:r>
              <a:rPr b="0" lang="en-US" sz="2400" spc="-1" strike="noStrike">
                <a:solidFill>
                  <a:srgbClr val="534949"/>
                </a:solidFill>
                <a:latin typeface="Liberation Sans Narrow"/>
                <a:ea typeface="Liberation Sans Narrow"/>
              </a:rPr>
              <a:t>Use headings and sub-headings to format your notes, if you are taking separate notes</a:t>
            </a:r>
            <a:endParaRPr b="0" lang="en-US" sz="2400" spc="-1" strike="noStrike">
              <a:latin typeface="Arial"/>
            </a:endParaRPr>
          </a:p>
          <a:p>
            <a:pPr lvl="2" marL="822960" indent="-182880">
              <a:lnSpc>
                <a:spcPct val="100000"/>
              </a:lnSpc>
              <a:spcBef>
                <a:spcPts val="439"/>
              </a:spcBef>
              <a:buClr>
                <a:srgbClr val="928b70"/>
              </a:buClr>
              <a:buFont typeface="Noto Sans Symbols"/>
              <a:buChar char="▪"/>
            </a:pPr>
            <a:r>
              <a:rPr b="0" lang="en-US" sz="2200" spc="-1" strike="noStrike">
                <a:solidFill>
                  <a:srgbClr val="534949"/>
                </a:solidFill>
                <a:latin typeface="Liberation Sans Narrow"/>
                <a:ea typeface="Liberation Sans Narrow"/>
              </a:rPr>
              <a:t>But be judicious!</a:t>
            </a:r>
            <a:endParaRPr b="0" lang="en-US" sz="22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Five minute summary strategy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effective reading strategies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PQRST</a:t>
            </a:r>
            <a:endParaRPr b="0" lang="en-US" sz="2600" spc="-1" strike="noStrike">
              <a:latin typeface="Arial"/>
            </a:endParaRPr>
          </a:p>
        </p:txBody>
      </p:sp>
      <p:sp>
        <p:nvSpPr>
          <p:cNvPr id="252"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ELSE SHOULD I DO?</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25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CONCLUSION</a:t>
            </a:r>
            <a:endParaRPr b="0" lang="en-US" sz="4200" spc="-1" strike="noStrike">
              <a:latin typeface="Arial"/>
            </a:endParaRPr>
          </a:p>
        </p:txBody>
      </p:sp>
      <p:pic>
        <p:nvPicPr>
          <p:cNvPr id="255" name="Google Shape;331;p28" descr="C:\Users\Liz\AppData\Local\Microsoft\Windows\Temporary Internet Files\Content.IE5\KNH3IKME\MC900439517[1].jpg"/>
          <p:cNvPicPr/>
          <p:nvPr/>
        </p:nvPicPr>
        <p:blipFill>
          <a:blip r:embed="rId1"/>
          <a:stretch/>
        </p:blipFill>
        <p:spPr>
          <a:xfrm>
            <a:off x="914400" y="533520"/>
            <a:ext cx="4266000" cy="252252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2012-07-02T15:45:39Z</dcterms:created>
  <dc:creator>Liz</dc:creator>
  <dc:description/>
  <dc:language>en-HK</dc:language>
  <cp:lastModifiedBy/>
  <dcterms:modified xsi:type="dcterms:W3CDTF">2024-02-07T16:58:25Z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