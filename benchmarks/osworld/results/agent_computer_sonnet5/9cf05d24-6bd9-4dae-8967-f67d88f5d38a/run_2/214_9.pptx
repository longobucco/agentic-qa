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media/image1.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defRPr>
            </a:pPr>
            <a:r>
              <a:rPr b="1" sz="2160" spc="-1" strike="noStrike">
                <a:solidFill>
                  <a:srgbClr val="000000"/>
                </a:solidFill>
                <a:latin typeface="Calibri"/>
              </a:rPr>
              <a:t>Cooker Type Popularity</a:t>
            </a:r>
          </a:p>
        </c:rich>
      </c:tx>
      <c:overlay val="0"/>
      <c:spPr>
        <a:noFill/>
        <a:ln w="0">
          <a:noFill/>
        </a:ln>
      </c:spPr>
    </c:title>
    <c:autoTitleDeleted val="0"/>
    <c:plotArea>
      <c:pieChart>
        <c:varyColors val="1"/>
        <c:ser>
          <c:idx val="0"/>
          <c:order val="0"/>
          <c:tx>
            <c:strRef>
              <c:f>label 0</c:f>
              <c:strCache>
                <c:ptCount val="1"/>
                <c:pt idx="0">
                  <c:v>Stovetop</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Pt>
            <c:idx val="4"/>
            <c:spPr>
              <a:solidFill>
                <a:srgbClr val="4bacc6"/>
              </a:solidFill>
              <a:ln w="0">
                <a:noFill/>
              </a:ln>
            </c:spPr>
          </c:dPt>
          <c:dLbls>
            <c:dLbl>
              <c:idx val="0"/>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1"/>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2"/>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3"/>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4"/>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txPr>
              <a:bodyPr wrap="none"/>
              <a:lstStyle/>
              <a:p>
                <a:pPr>
                  <a:defRPr b="0" sz="1000" spc="-1" strike="noStrike">
                    <a:solidFill>
                      <a:srgbClr val="000000"/>
                    </a:solidFill>
                    <a:latin typeface="Arial"/>
                  </a:defRPr>
                </a:pPr>
              </a:p>
            </c:txPr>
            <c:dLblPos val="bestFit"/>
            <c:showLegendKey val="0"/>
            <c:showVal val="0"/>
            <c:showCatName val="0"/>
            <c:showSerName val="0"/>
            <c:showPercent val="0"/>
            <c:separator> </c:separator>
            <c:showLeaderLines val="1"/>
          </c:dLbls>
          <c:cat>
            <c:strRef>
              <c:f>categories</c:f>
              <c:strCache>
                <c:ptCount val="5"/>
                <c:pt idx="0">
                  <c:v>Category 0</c:v>
                </c:pt>
                <c:pt idx="1">
                  <c:v>Category 1</c:v>
                </c:pt>
                <c:pt idx="2">
                  <c:v>Category 2</c:v>
                </c:pt>
                <c:pt idx="3">
                  <c:v>Category 3</c:v>
                </c:pt>
                <c:pt idx="4">
                  <c:v>Category 4</c:v>
                </c:pt>
              </c:strCache>
            </c:strRef>
          </c:cat>
          <c:val>
            <c:numRef>
              <c:f>0</c:f>
              <c:numCache>
                <c:formatCode>General</c:formatCode>
                <c:ptCount val="5"/>
                <c:pt idx="0">
                  <c:v>0.4</c:v>
                </c:pt>
              </c:numCache>
            </c:numRef>
          </c:val>
        </c:ser>
        <c:firstSliceAng val="0"/>
      </c:pieChart>
      <c:spPr>
        <a:noFill/>
        <a:ln w="0">
          <a:noFill/>
        </a:ln>
      </c:spPr>
    </c:plotArea>
    <c:plotVisOnly val="1"/>
    <c:dispBlanksAs val="gap"/>
  </c:chart>
  <c:spPr>
    <a:noFill/>
    <a:ln w="9360">
      <a:solidFill>
        <a:srgbClr val="d9d9d9"/>
      </a:solidFill>
      <a:round/>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9DF5037-F2F5-45EB-B494-58693E3A890B}"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7D0655F-329F-4AA3-8471-664BA72C840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322EB92-A70C-4BF8-BBEF-7151670EE6DB}"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0149C630-8FFD-47C0-9E94-FE67784917DA}"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B1630B47-6418-4698-9E65-4717487589A0}"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21B40853-D630-4CD8-A982-51EF905319B2}"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1EFAD2D-4343-4DDF-B3FD-F378BF1FB106}"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940EB47-D0D7-485F-AF60-E18A9613EC7F}"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BA63887-843A-4CA1-BDE9-AFD93F3A4339}"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F8A014C-ABF9-458F-BBB5-5FEEA8479100}"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88693EA3-5753-4D12-9D8D-032207E6977B}"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1C867EC5-C346-401D-9912-81EF3EBC4A66}" type="slidenum">
              <a:t>&lt;#&gt;</a:t>
            </a:fld>
          </a:p>
        </p:txBody>
      </p:sp>
      <p:sp>
        <p:nvSpPr>
          <p:cNvPr id="11" name="PlaceHolder 10"/>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Times New Roman"/>
            </a:endParaRPr>
          </a:p>
        </p:txBody>
      </p:sp>
      <p:sp>
        <p:nvSpPr>
          <p:cNvPr id="1" name="PlaceHolder 2"/>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99E7B692-7348-4C92-BD3F-4041331AF569}" type="slidenum">
              <a:rPr b="0" lang="en-US" sz="1200" spc="-1" strike="noStrike">
                <a:solidFill>
                  <a:srgbClr val="8b8b8b"/>
                </a:solidFill>
                <a:latin typeface="Calibri"/>
              </a:rPr>
              <a:t>&lt;number&gt;</a:t>
            </a:fld>
            <a:endParaRPr b="0" lang="en-US" sz="1200" spc="-1" strike="noStrike">
              <a:latin typeface="Times New Roman"/>
            </a:endParaRPr>
          </a:p>
        </p:txBody>
      </p:sp>
      <p:sp>
        <p:nvSpPr>
          <p:cNvPr id="2" name="PlaceHolder 3"/>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ff00"/>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buNone/>
            </a:pPr>
            <a:endParaRPr b="0" lang="en-US" sz="4400" spc="-1" strike="noStrike">
              <a:latin typeface="Arial"/>
            </a:endParaRPr>
          </a:p>
        </p:txBody>
      </p:sp>
      <p:sp>
        <p:nvSpPr>
          <p:cNvPr id="42"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lnSpc>
                <a:spcPct val="100000"/>
              </a:lnSpc>
              <a:buNone/>
            </a:pPr>
            <a:r>
              <a:rPr b="0" lang="en-US" sz="4400" spc="-1" strike="noStrike">
                <a:solidFill>
                  <a:srgbClr val="000000"/>
                </a:solidFill>
                <a:latin typeface="Calibri"/>
              </a:rPr>
              <a:t>Different Cookers</a:t>
            </a:r>
            <a:endParaRPr b="0" lang="en-US" sz="4400" spc="-1" strike="noStrike">
              <a:latin typeface="Arial"/>
            </a:endParaRPr>
          </a:p>
        </p:txBody>
      </p:sp>
      <p:sp>
        <p:nvSpPr>
          <p:cNvPr id="44"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There are various types of cookers available that cater to different cooking needs. From traditional stovetops to advanced electric cookers and modern induction cooktops, each type offers unique features and benefits.</a:t>
            </a:r>
            <a:endParaRPr b="0" lang="en-US" sz="3200" spc="-1" strike="noStrike">
              <a:latin typeface="Arial"/>
            </a:endParaRPr>
          </a:p>
        </p:txBody>
      </p:sp>
      <p:graphicFrame>
        <p:nvGraphicFramePr>
          <p:cNvPr id="45" name="Table 3"/>
          <p:cNvGraphicFramePr/>
          <p:nvPr/>
        </p:nvGraphicFramePr>
        <p:xfrm>
          <a:off x="628560" y="1825560"/>
          <a:ext cx="7886160" cy="1339560"/>
        </p:xfrm>
        <a:graphic>
          <a:graphicData uri="http://schemas.openxmlformats.org/drawingml/2006/table">
            <a:tbl>
              <a:tblPr/>
              <a:tblGrid>
                <a:gridCol w="1971360"/>
                <a:gridCol w="1971360"/>
                <a:gridCol w="1971360"/>
                <a:gridCol w="1972440"/>
              </a:tblGrid>
              <a:tr h="369720">
                <a:tc>
                  <a:txBody>
                    <a:bodyPr anchor="t">
                      <a:noAutofit/>
                    </a:bodyPr>
                    <a:p>
                      <a:pPr>
                        <a:lnSpc>
                          <a:spcPct val="100000"/>
                        </a:lnSpc>
                        <a:buNone/>
                      </a:pPr>
                      <a:r>
                        <a:rPr b="0" lang="en-US" sz="1800" spc="-1" strike="noStrike">
                          <a:solidFill>
                            <a:srgbClr val="ffffff"/>
                          </a:solidFill>
                          <a:latin typeface="Calibri"/>
                        </a:rPr>
                        <a:t>Cooker Type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Features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Benefits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r>
              <a:tr h="622440">
                <a:tc>
                  <a:txBody>
                    <a:bodyPr anchor="t">
                      <a:noAutofit/>
                    </a:bodyPr>
                    <a:p>
                      <a:pPr>
                        <a:lnSpc>
                          <a:spcPct val="100000"/>
                        </a:lnSpc>
                        <a:buNone/>
                      </a:pPr>
                      <a:r>
                        <a:rPr b="0" lang="en-US" sz="1800" spc="-1" strike="noStrike">
                          <a:solidFill>
                            <a:srgbClr val="000000"/>
                          </a:solidFill>
                          <a:latin typeface="Calibri"/>
                        </a:rPr>
                        <a:t>Stovetop</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Gas or electric burners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Precise heat control</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r>
              <a:tr h="34776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r>
            </a:tbl>
          </a:graphicData>
        </a:graphic>
      </p:graphicFrame>
      <p:graphicFrame>
        <p:nvGraphicFramePr>
          <p:cNvPr id="46" name="Chart 4"/>
          <p:cNvGraphicFramePr/>
          <p:nvPr/>
        </p:nvGraphicFramePr>
        <p:xfrm>
          <a:off x="628560" y="1825560"/>
          <a:ext cx="7885800" cy="4350240"/>
        </p:xfrm>
        <a:graphic>
          <a:graphicData uri="http://schemas.openxmlformats.org/drawingml/2006/chart">
            <c:chart xmlns:c="http://schemas.openxmlformats.org/drawingml/2006/chart" xmlns:r="http://schemas.openxmlformats.org/officeDocument/2006/relationships" r:id="rId1"/>
          </a:graphicData>
        </a:graphic>
      </p:graphicFrame>
      <p:pic>
        <p:nvPicPr>
          <p:cNvPr id="47" name="Picture 5" descr="none.png"/>
          <p:cNvPicPr/>
          <p:nvPr/>
        </p:nvPicPr>
        <p:blipFill>
          <a:blip r:embed="rId2"/>
          <a:stretch/>
        </p:blipFill>
        <p:spPr>
          <a:xfrm>
            <a:off x="600120" y="1825560"/>
            <a:ext cx="2518920" cy="21589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en-HK</dc:language>
  <cp:lastModifiedBy/>
  <dcterms:modified xsi:type="dcterms:W3CDTF">2026-09-06T05:07:40Z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