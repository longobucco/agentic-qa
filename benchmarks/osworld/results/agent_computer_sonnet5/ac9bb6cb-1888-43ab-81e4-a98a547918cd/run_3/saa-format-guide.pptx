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Playfair Displ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SrRS/wRDckqF266bYH1jNKWIl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Lato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2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Hey, is this style double spaced or single spaced? Or is the title page single spaced??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4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Is primary the same as first? Use consistent language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Two lines single or double spaced? 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380880" y="685800"/>
            <a:ext cx="6095520" cy="342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rPr b="0" lang="en" sz="1100" strike="noStrike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The Multiple authors part is a little confusing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3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3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5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5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5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5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5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6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7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0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5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5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5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5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3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8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1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6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62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2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3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3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64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5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5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6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6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6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66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7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67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7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67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7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7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2748960" y="748800"/>
            <a:ext cx="3645720" cy="36457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2993040" y="992880"/>
            <a:ext cx="3157920" cy="315792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3096360" y="1627200"/>
            <a:ext cx="295092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type="title"/>
          </p:nvPr>
        </p:nvSpPr>
        <p:spPr>
          <a:xfrm>
            <a:off x="311760" y="1233000"/>
            <a:ext cx="8520120" cy="1609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11760" y="2919600"/>
            <a:ext cx="8520120" cy="1071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8" name="Google Shape;208;p22"/>
          <p:cNvSpPr txBox="1"/>
          <p:nvPr>
            <p:ph idx="2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uments.saa.org/container/docs/default-source/doc-publications/style-guide/saa-style-guide_updated-july-2018c5062f7e55154959ab57564384bda7de.pdf?sfvrsn=8247640e_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"/>
          <p:cNvSpPr txBox="1"/>
          <p:nvPr>
            <p:ph type="title"/>
          </p:nvPr>
        </p:nvSpPr>
        <p:spPr>
          <a:xfrm>
            <a:off x="3096360" y="1627200"/>
            <a:ext cx="295092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None/>
            </a:pPr>
            <a:r>
              <a:rPr b="1" lang="en" sz="3200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SAA Format Guide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"/>
          <p:cNvSpPr txBox="1"/>
          <p:nvPr>
            <p:ph idx="1" type="subTitle"/>
          </p:nvPr>
        </p:nvSpPr>
        <p:spPr>
          <a:xfrm>
            <a:off x="3096360" y="3267000"/>
            <a:ext cx="2950920" cy="700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layfair Display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FHSS Writing Lab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Page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 of work in all caps, bolded, and centered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Author(s)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The words “DO NOT CITE IN ANY CONTEXT WITHOUT PERMISSION OF THE AUTHOR(S)” in all caps, unbolded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Authors’ affiliations, flush left, author bolded with a colon separating authors’ name and affiliation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2280" y="152280"/>
            <a:ext cx="4159080" cy="483840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9" name="Google Shape;289;p3"/>
          <p:cNvSpPr/>
          <p:nvPr/>
        </p:nvSpPr>
        <p:spPr>
          <a:xfrm>
            <a:off x="205200" y="110484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205200" y="169488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Author(s)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/>
          <p:nvPr/>
        </p:nvSpPr>
        <p:spPr>
          <a:xfrm>
            <a:off x="205200" y="261108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These words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"/>
          <p:cNvSpPr/>
          <p:nvPr/>
        </p:nvSpPr>
        <p:spPr>
          <a:xfrm>
            <a:off x="205200" y="3745440"/>
            <a:ext cx="250920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Affiliation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Headings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First level headings should be centered, bolded, title case capitalization, and a single line of space above and below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Second level headings are flush left, italicized, title case capitalization, and with a single line of space above and below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Third level headings are part of the paragraph, with an indent, italicized, title case capitalization, and followed by a period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The text immediately follows this period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Do not use “INTRODUCTION” or “ABSTRACT” as headings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1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References Cited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 is a primary-level heading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720" y="397080"/>
            <a:ext cx="3303360" cy="434916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6" name="Google Shape;3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1480" y="397080"/>
            <a:ext cx="3602160" cy="434916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7" name="Google Shape;307;p5"/>
          <p:cNvSpPr/>
          <p:nvPr/>
        </p:nvSpPr>
        <p:spPr>
          <a:xfrm>
            <a:off x="63000" y="1643040"/>
            <a:ext cx="184428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First level heading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"/>
          <p:cNvSpPr/>
          <p:nvPr/>
        </p:nvSpPr>
        <p:spPr>
          <a:xfrm flipH="1">
            <a:off x="7097760" y="947520"/>
            <a:ext cx="199692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Second level heading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"/>
          <p:cNvSpPr/>
          <p:nvPr/>
        </p:nvSpPr>
        <p:spPr>
          <a:xfrm flipH="1">
            <a:off x="7097760" y="3145320"/>
            <a:ext cx="1996920" cy="58968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Third level heading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Numbers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All numbers above nine use numerals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Spell out numbers zero through nine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Spell out any numbers at the beginning of the sentence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Spell out numbers that are used in a general sense (not an actual number)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The archeologists recovered several hundred shards.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Ordinal numbers are always spelled out (i.e. seventh cycle, eighteenth century)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Italics/Quotations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Italics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Words in languages other than primary language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Titles of books, journals, etc., when mentioned in the text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>
            <p:ph idx="1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Quotation Marks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When using direct quotes of four lines or less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Article titles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In-Text Citations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Basic Format: (Last Name Year: page #) OR Last Name (Year: page 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(Larson 2020: 13) / Larson (2020: 13)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Multiple pages (Last Name Year: #-#)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(Kindt 2020: 116-137) / Kindt (2020: 116-137)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Two Authors (Last Name and Last Name Year: page 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(Reese and Hilton 2019: 36) / Reese and Hilton (2019:36)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In-Text Citations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Three Authors + (Last Name et al. Year: page #)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(Cass et al. 2018: 197) / Cass and others (2018: 197) ***Do not use et al. in text***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Separate the use of multiple citations with a semicolon (;)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20" lvl="1" marL="9144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400"/>
              <a:buFont typeface="Lato"/>
              <a:buChar char="○"/>
            </a:pPr>
            <a:r>
              <a:rPr b="0" i="0" lang="en" sz="14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 (Pyper and Day 2020: 187; Nuccitelli and Judge 2020: 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Page numbers are unnecessary unless using a direct quote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References Cited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>
            <p:ph idx="1" type="body"/>
          </p:nvPr>
        </p:nvSpPr>
        <p:spPr>
          <a:xfrm>
            <a:off x="311760" y="94608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Titled “References Cited” bolded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Alphabetized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Primary level heading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All references cited must be in the References Cited page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No unused references should be included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Double spaced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Char char="●"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Additional space between each citation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Book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Last Name, First Name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Year	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Title in Italics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. Publisher, Publication Place.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Cusworth, Zack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2020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The Effects on Education on Gender. 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Barnacle Press, Denver, Colorado.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Multiple Authors: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 Zack, and Angela Stout, (and First Name Last Name)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(only the first author is last name, first name. Every other is first name last name)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Online Journal Article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Last Name, First Name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Year Title.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Journal Title in Italics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 volume#(issue#): ##-##. DOI:0000000000, accessed date.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Cusworth, Zack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2018 Disney and Gender. </a:t>
            </a:r>
            <a:r>
              <a:rPr b="0" i="1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Family </a:t>
            </a: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45(6): 33-42. DOI:000000, accessed July 26, 2019.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Web Pages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 txBox="1"/>
          <p:nvPr>
            <p:ph idx="1" type="body"/>
          </p:nvPr>
        </p:nvSpPr>
        <p:spPr>
          <a:xfrm>
            <a:off x="311760" y="1152360"/>
            <a:ext cx="8666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Format: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Last Name, First Name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Year Title of Site. Electronic document, URL, accessed date month, day, year.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Cusworth, Zack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2017 Information on IEP. Electronic document,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http://www.thisdoesnotmatter.com/987987987987098, accessed April 15,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Font typeface="Lato"/>
              <a:buNone/>
            </a:pPr>
            <a:r>
              <a:rPr b="0" i="0" lang="en" sz="1800" u="none" cap="none" strike="noStrike">
                <a:solidFill>
                  <a:srgbClr val="5E696C"/>
                </a:solidFill>
                <a:latin typeface="Lato"/>
                <a:ea typeface="Lato"/>
                <a:cs typeface="Lato"/>
                <a:sym typeface="Lato"/>
              </a:rPr>
              <a:t>	2019.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128880" y="1094040"/>
            <a:ext cx="1535040" cy="3949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Book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28880" y="1974960"/>
            <a:ext cx="1535040" cy="3949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Journal Article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28880" y="3061080"/>
            <a:ext cx="1535040" cy="39492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91425" spcFirstLastPara="1" rIns="9142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Website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60" y="451800"/>
            <a:ext cx="5697720" cy="4239720"/>
          </a:xfrm>
          <a:prstGeom prst="rect">
            <a:avLst/>
          </a:prstGeom>
          <a:noFill/>
          <a:ln cap="flat" cmpd="sng" w="9525">
            <a:solidFill>
              <a:srgbClr val="5E696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6" name="Google Shape;376;p1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5E61"/>
              </a:buClr>
              <a:buSzPts val="3200"/>
              <a:buFont typeface="Playfair Display"/>
              <a:buNone/>
            </a:pPr>
            <a:r>
              <a:rPr b="1" lang="en" sz="3200" strike="noStrike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 Go here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4345"/>
              </a:buClr>
              <a:buSzPts val="2400"/>
              <a:buFont typeface="Arial"/>
              <a:buNone/>
            </a:pPr>
            <a:r>
              <a:rPr b="0" i="0" lang="en" sz="2400" u="sng" cap="none" strike="noStrike">
                <a:solidFill>
                  <a:srgbClr val="AF434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Editorial Policy,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None/>
            </a:pPr>
            <a:fld id="{00000000-1234-1234-1234-123412341234}" type="slidenum">
              <a:rPr b="0" lang="en" sz="1000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Mallory Kindt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全屏显示(16:9)</vt:lpwstr>
  </property>
  <property fmtid="{D5CDD505-2E9C-101B-9397-08002B2CF9AE}" pid="4" name="Slides">
    <vt:i4>15</vt:i4>
  </property>
</Properties>
</file>