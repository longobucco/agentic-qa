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2EEBF8C-7C76-48DA-B50F-85BD92CC386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Hey, is this style double spaced or single spaced? Or is the title page single spaced??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Is primary the same as first? Use consistent language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Two lines single or double spaced?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The Multiple authors part is a little confusing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D99572-F427-49FD-8C86-F8F326B4A07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907C408-4046-498A-9E82-68F68560D19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D056B68-14F8-4DCD-AB71-F97F075DCA3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0BFB265-93A2-4ADB-A49B-B18233A9C9F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0FC808B-FEC2-4722-BD99-1E6CFB1CEA6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2A0D90-F787-4CC5-BF0B-24445A2C192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D18F4FB-675D-46C0-BD19-A4A0819BB0A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6361B4-F439-47B3-BB32-4B0B4A14AC7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7916922-ACB5-48C0-BF66-9126921B058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A0519DF-B001-4DE8-9B05-CA433236507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8E0379E-6A84-4DE6-AF92-E5C7C58C580E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16001AF-D345-4005-B861-4727D8CEF39E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A7B04E-BB2B-4CDB-B0C3-5582A3B2E87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8A5416-3CC8-4E4F-A979-0F40CA0B8194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2DB56C-A5C2-4CB9-8C74-46729EDF1F5E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4B4D79-1E2F-4D20-83D0-30CC6441AF8D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FE1A60-7581-4D79-BAFB-8EA70BBFBCDA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4D6090-AB2D-446A-B3C9-5EEC03AA1CC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CCECFA-247F-4706-B6DE-94DAAD5B572E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0A59BE-72E7-4803-996C-D0A270397B3E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E82FAE-EEAA-4E85-9772-2AF417D41C22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DB1375-81B9-4ADA-BD84-28F4A77BF6A6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6D67D7-2995-435B-B554-6E9F1F5B5E6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08F963-6D57-489A-842D-D4449C408203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856D66-C753-4D4E-82E2-139EC8D692A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C811C5-2584-4B62-9D73-7AA45BD36504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595B7-38B9-4DF9-9488-1B6AA013931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969BE-1671-4F8F-85DD-0266D3315ED6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9C8CA-B20E-4747-A52C-A3B76BF7C4C5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C3E1AB-9FE9-4F97-BAAE-4B284D6ADB79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93F4E-2FF9-45D0-BC0B-665F3C4BBEC0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AAD865-0EF0-4658-BCA4-AF44E86D0FDB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6D61D-8933-438D-8C1B-EC1E7BAC23D2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EA345-E73B-47A2-BA5D-5CCC524D5175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5E7C3F-1449-40A3-849E-188157D409B8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59D62A-FA13-4E88-8FE4-0233B7E09846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2D19C76-DF4C-4831-AEBF-8B84E84ECB0F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206F190-1C6F-4EB4-A27C-E292D47AFB72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6A658EE-AA97-42E1-8269-BE49F14CE586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E019224-772C-4528-8C51-BCCA70234CD7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B16F214-5685-4AB2-879E-4A19BC64682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5AB2069-5328-4839-A26A-2094E592CC49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682A31E-0FDB-4D49-8854-2C3317DE4DD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4475A6-8747-42BF-8A4A-B47D7B84B312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B4A12B6-BB5E-4D9D-8A52-1B50874DC8FE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7375EB5-B705-4ACA-AD7C-0A98328BAFE1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A189D88-25FF-4F52-A220-7CC68409887C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AC633BD-C1F9-4098-8EC8-882B9E713D9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748960" y="748800"/>
            <a:ext cx="3645360" cy="3645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1;p16"/>
          <p:cNvSpPr/>
          <p:nvPr/>
        </p:nvSpPr>
        <p:spPr>
          <a:xfrm>
            <a:off x="2993040" y="992880"/>
            <a:ext cx="3157560" cy="3157560"/>
          </a:xfrm>
          <a:prstGeom prst="rect">
            <a:avLst/>
          </a:prstGeom>
          <a:noFill/>
          <a:ln w="2857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E16BA52-5E81-45EC-8821-1AB16AE81226}" type="slidenum">
              <a:rPr b="0" lang="en" sz="1000" spc="-1" strike="noStrike">
                <a:solidFill>
                  <a:srgbClr val="ff0000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76;p18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6A31FF-965A-48AD-8C6F-75147D4B28D7}" type="slidenum">
              <a:rPr b="0" lang="en" sz="1000" spc="-1" strike="noStrike">
                <a:solidFill>
                  <a:srgbClr val="ff0000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41;p20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1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82F7BD6-8265-497C-A982-C6ABEF0E1B52}" type="slidenum">
              <a:rPr b="0" lang="en" sz="1000" spc="-1" strike="noStrike">
                <a:solidFill>
                  <a:srgbClr val="ff0000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3C8366E-7B3E-4DE1-A355-FF37AA4127AA}" type="slidenum">
              <a:rPr b="0" lang="en" sz="1000" spc="-1" strike="noStrike">
                <a:solidFill>
                  <a:srgbClr val="ff0000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documents.saa.org/container/docs/default-source/doc-publications/style-guide/saa-style-guide_updated-july-2018c5062f7e55154959ab57564384bda7de.pdf?sfvrsn=8247640e_6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096360" y="1627200"/>
            <a:ext cx="2950560" cy="15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fffff"/>
                </a:solidFill>
                <a:latin typeface="Lato"/>
                <a:ea typeface="Lato"/>
              </a:rPr>
              <a:t>SAA Format Guide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3096360" y="3267000"/>
            <a:ext cx="2950560" cy="70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ffffff"/>
                </a:solidFill>
                <a:latin typeface="Playfair Display"/>
                <a:ea typeface="Playfair Display"/>
              </a:rPr>
              <a:t>FHSS Writing Lab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8A3A639-4212-4F78-B9B2-0D6520F1B742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Title Page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of work in all caps, bolded, and centered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Author(s)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words “DO NOT CITE IN ANY CONTEXT WITHOUT PERMISSION OF THE AUTHOR(S)” in all caps, unbolded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Authors’ affiliations, flush left, author bolded with a colon separating authors’ name and affiliation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880F11D-CD3C-4495-8104-D58A6E2DA916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288;p3" descr=""/>
          <p:cNvPicPr/>
          <p:nvPr/>
        </p:nvPicPr>
        <p:blipFill>
          <a:blip r:embed="rId1"/>
          <a:stretch/>
        </p:blipFill>
        <p:spPr>
          <a:xfrm>
            <a:off x="2492280" y="152280"/>
            <a:ext cx="4158720" cy="483804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74" name="Google Shape;289;p3"/>
          <p:cNvSpPr/>
          <p:nvPr/>
        </p:nvSpPr>
        <p:spPr>
          <a:xfrm>
            <a:off x="205200" y="11048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Title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5" name="Google Shape;290;p3"/>
          <p:cNvSpPr/>
          <p:nvPr/>
        </p:nvSpPr>
        <p:spPr>
          <a:xfrm>
            <a:off x="205200" y="16948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Author(s)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6" name="Google Shape;291;p3"/>
          <p:cNvSpPr/>
          <p:nvPr/>
        </p:nvSpPr>
        <p:spPr>
          <a:xfrm>
            <a:off x="205200" y="26110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These words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7" name="Google Shape;292;p3"/>
          <p:cNvSpPr/>
          <p:nvPr/>
        </p:nvSpPr>
        <p:spPr>
          <a:xfrm>
            <a:off x="205200" y="37454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Affiliation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CF4EF55-7BBA-4F02-B87A-A7AA4DF4933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Headings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First level headings should be centered, bolded, title case capitalization, and a single line of space above and below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Second level headings are flush left, italicized, title case capitalization, and with a single line of space above and below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Third level headings are part of the paragraph, with an indent, italicized, title case capitalization, and followed by a period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The text immediately follows this period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 not use “INTRODUCTION” or “ABSTRACT” as headings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References Cited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is a primary-level heading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A0E5DBD-FE5D-4621-A97A-CDFE9F27B228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305;p5" descr=""/>
          <p:cNvPicPr/>
          <p:nvPr/>
        </p:nvPicPr>
        <p:blipFill>
          <a:blip r:embed="rId1"/>
          <a:stretch/>
        </p:blipFill>
        <p:spPr>
          <a:xfrm>
            <a:off x="1215720" y="397080"/>
            <a:ext cx="33030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pic>
        <p:nvPicPr>
          <p:cNvPr id="183" name="Google Shape;306;p5" descr=""/>
          <p:cNvPicPr/>
          <p:nvPr/>
        </p:nvPicPr>
        <p:blipFill>
          <a:blip r:embed="rId2"/>
          <a:stretch/>
        </p:blipFill>
        <p:spPr>
          <a:xfrm>
            <a:off x="4821480" y="397080"/>
            <a:ext cx="36018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84" name="Google Shape;307;p5"/>
          <p:cNvSpPr/>
          <p:nvPr/>
        </p:nvSpPr>
        <p:spPr>
          <a:xfrm>
            <a:off x="63000" y="1643040"/>
            <a:ext cx="184392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First level heading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5" name="Google Shape;308;p5"/>
          <p:cNvSpPr/>
          <p:nvPr/>
        </p:nvSpPr>
        <p:spPr>
          <a:xfrm flipH="1">
            <a:off x="7097760" y="9475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Second level heading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6" name="Google Shape;309;p5"/>
          <p:cNvSpPr/>
          <p:nvPr/>
        </p:nvSpPr>
        <p:spPr>
          <a:xfrm flipH="1">
            <a:off x="7097760" y="31453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Third level heading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583F11E-6DA4-4F8A-893F-340A8785DEE5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Numbers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numbers above nine use numerals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zero through nine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any numbers at the beginning of the sentence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that are used in a general sense (not an actual number)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The archeologists recovered several hundred shards.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Ordinal numbers are always spelled out (i.e. seventh cycle, eighteenth century)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BF59560-52FD-4FF3-BCD2-9AD2A4C66C69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Italics/Quotations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Italics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Words in languages other than primary language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Titles of books, journals, etc., when mentioned in the 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Quotation Marks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When using direct quotes of four lines or less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Article titles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1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CBCFD3A-A539-4025-A3F6-AEE198D80C77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Basic Format: (Last Name Year: page #) OR Last Name (Year: page #)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(Larson 2020: 13) / Larson (2020: 13)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pages (Last Name Year: #-#)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(Kindt 2020: 116-137) / Kindt (2020: 116-137)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Two Authors (Last Name and Last Name Year: page #)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(Reese and Hilton 2019: 36) / Reese and Hilton (2019:36)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EDB6A44-07C4-4172-92C7-6534E30736A7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Three Authors + (Last Name et al. Year: page #)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(Cass et al. 2018: 197) / Cass and others (2018: 197) ***Do not use et al. in text***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Separate the use of multiple citations with a semicolon (;)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(Pyper and Day 2020: 187; Nuccitelli and Judge 2020: 23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Page numbers are unnecessary unless using a direct quote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AD23DF2-9396-473B-9BE4-6C26E695FAD2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References Cited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11760" y="94608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Titled “References Cited” bolded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Alphabetized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Primary level heading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references cited must be in the References Cited page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No unused references should be included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Double spaced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Additional space between each citation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7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3845290-E5C3-4959-B0B8-908E28AEB429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Book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. Publisher, Publication Place.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2020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Effects on Education on Gender.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Barnacle Press, Denver, Colorado.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Authors: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 Zack, and Angela Stout, (and First Name Last Name)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(only the first author is last name, first name. Every other is first name last name)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0F593B5-7E59-42A3-9028-DC2293083DA9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Online Journal Article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Journal 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volume#(issue#): ##-##. DOI:0000000000, accessed date.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2018 Disney and Gender.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Family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45(6): 33-42. DOI:000000, accessed July 26, 2019.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49817BF-45D6-4AB2-A401-02FA00FD2981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Web Pages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66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 of Site. Electronic document, URL, accessed date month, day, year.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2017 Information on IEP. Electronic document,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http://www.thisdoesnotmatter.com/987987987987098, accessed April 15,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2019.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2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2AF3475-A9A4-476F-ABE9-72F5636E5EC8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372;p14"/>
          <p:cNvSpPr/>
          <p:nvPr/>
        </p:nvSpPr>
        <p:spPr>
          <a:xfrm>
            <a:off x="128880" y="109404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Book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4" name="Google Shape;373;p14"/>
          <p:cNvSpPr/>
          <p:nvPr/>
        </p:nvSpPr>
        <p:spPr>
          <a:xfrm>
            <a:off x="128880" y="197496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Journal Article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5" name="Google Shape;374;p14"/>
          <p:cNvSpPr/>
          <p:nvPr/>
        </p:nvSpPr>
        <p:spPr>
          <a:xfrm>
            <a:off x="128880" y="306108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Website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16" name="Google Shape;375;p14" descr=""/>
          <p:cNvPicPr/>
          <p:nvPr/>
        </p:nvPicPr>
        <p:blipFill>
          <a:blip r:embed="rId1"/>
          <a:stretch/>
        </p:blipFill>
        <p:spPr>
          <a:xfrm>
            <a:off x="1722960" y="451800"/>
            <a:ext cx="5697360" cy="423936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217" name="PlaceHolder 1"/>
          <p:cNvSpPr>
            <a:spLocks noGrp="1"/>
          </p:cNvSpPr>
          <p:nvPr>
            <p:ph type="sldNum" idx="2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A8824F9-F580-4571-8F57-42D6272BF22F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Questions? Go here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 u="sng">
                <a:solidFill>
                  <a:srgbClr val="af4345"/>
                </a:solidFill>
                <a:uFillTx/>
                <a:latin typeface="Arial"/>
                <a:ea typeface="Arial"/>
                <a:hlinkClick r:id="rId1"/>
              </a:rPr>
              <a:t>Editorial Policy,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5760B5C-59CC-45E0-8A75-53657D52057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Mallory Kindt</dc:creator>
  <dc:description/>
  <dc:language>en-US</dc:language>
  <cp:lastModifiedBy/>
  <dcterms:modified xsi:type="dcterms:W3CDTF">2026-09-06T09:54:03Z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