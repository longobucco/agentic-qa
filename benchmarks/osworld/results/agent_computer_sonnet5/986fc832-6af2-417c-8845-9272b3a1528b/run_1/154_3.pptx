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63011CC-863E-4687-9F8C-885AF58215C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49FE7D2-5BC0-4FD2-834E-31D18B2AC1E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F7663E2-AC99-40D7-BD5F-BC3244B0CF0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A4EA313-4F30-4D69-A827-E00572107F6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1164120-4482-4FE0-A9E1-18C84DDBE8B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72ECC65-4E81-4164-AB7E-C6855E7CA0B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4BAB51A-0E0E-415F-AFA8-2F975697876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42EC863-3D5C-45F0-BDF6-2FB50AEC6E4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F7F736D-10D4-4556-A461-B405934BAA5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44FA580-9E59-41C7-A2E8-246D666E703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0D71C06-D85B-456F-B27B-1A378E0AA4E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77C6673-5874-4215-B846-520372F70FB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5655B30-44A4-4653-97EA-CDD364538974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4400" spc="-1" strike="noStrike">
                <a:solidFill>
                  <a:srgbClr val="c9211e"/>
                </a:solidFill>
                <a:latin typeface="Calibri"/>
              </a:rPr>
              <a:t>GPT</a:t>
            </a:r>
            <a:endParaRPr b="0" lang="en-US" sz="4400" spc="-1" strike="noStrike">
              <a:solidFill>
                <a:srgbClr val="c9211e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 u="sng">
                <a:solidFill>
                  <a:srgbClr val="c9211e"/>
                </a:solidFill>
                <a:uFillTx/>
                <a:latin typeface="Calibri"/>
              </a:rPr>
              <a:t>Generative Pre-trained Transformer 3 (GPT-3) is an autoregressive language model released in 2020 that uses deep learning to produce human-like text.</a:t>
            </a:r>
            <a:endParaRPr b="0" lang="en-US" sz="3200" spc="-1" strike="noStrike" u="sng">
              <a:solidFill>
                <a:srgbClr val="c9211e"/>
              </a:solidFill>
              <a:uFillTx/>
              <a:latin typeface="Arial"/>
            </a:endParaRPr>
          </a:p>
        </p:txBody>
      </p:sp>
      <p:graphicFrame>
        <p:nvGraphicFramePr>
          <p:cNvPr id="41" name="Table 3"/>
          <p:cNvGraphicFramePr/>
          <p:nvPr/>
        </p:nvGraphicFramePr>
        <p:xfrm>
          <a:off x="664200" y="4904280"/>
          <a:ext cx="7886160" cy="1614240"/>
        </p:xfrm>
        <a:graphic>
          <a:graphicData uri="http://schemas.openxmlformats.org/drawingml/2006/table">
            <a:tbl>
              <a:tblPr/>
              <a:tblGrid>
                <a:gridCol w="3943080"/>
                <a:gridCol w="3943440"/>
              </a:tblGrid>
              <a:tr h="3697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c9211e"/>
                          </a:solidFill>
                          <a:latin typeface="Calibri"/>
                        </a:rPr>
                        <a:t>Model Name</a:t>
                      </a:r>
                      <a:endParaRPr b="0" lang="en-US" sz="1800" spc="-1" strike="noStrike">
                        <a:solidFill>
                          <a:srgbClr val="c9211e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c9211e"/>
                          </a:solidFill>
                          <a:latin typeface="Calibri"/>
                        </a:rPr>
                        <a:t>ChatGPT</a:t>
                      </a:r>
                      <a:endParaRPr b="0" lang="en-US" sz="1800" spc="-1" strike="noStrike">
                        <a:solidFill>
                          <a:srgbClr val="c9211e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</a:tr>
              <a:tr h="622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c9211e"/>
                          </a:solidFill>
                          <a:latin typeface="Calibri"/>
                        </a:rPr>
                        <a:t>Architecture</a:t>
                      </a:r>
                      <a:endParaRPr b="0" lang="en-US" sz="1800" spc="-1" strike="noStrike">
                        <a:solidFill>
                          <a:srgbClr val="c9211e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c9211e"/>
                          </a:solidFill>
                          <a:latin typeface="Calibri"/>
                        </a:rPr>
                        <a:t>GPT (Generative Pre-trained Transformer)</a:t>
                      </a:r>
                      <a:endParaRPr b="0" lang="en-US" sz="1800" spc="-1" strike="noStrike">
                        <a:solidFill>
                          <a:srgbClr val="c9211e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</a:tr>
              <a:tr h="622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c9211e"/>
                          </a:solidFill>
                          <a:latin typeface="Calibri"/>
                        </a:rPr>
                        <a:t>Training Data Size</a:t>
                      </a:r>
                      <a:endParaRPr b="0" lang="en-US" sz="1800" spc="-1" strike="noStrike">
                        <a:solidFill>
                          <a:srgbClr val="c9211e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c9211e"/>
                          </a:solidFill>
                          <a:latin typeface="Calibri"/>
                        </a:rPr>
                        <a:t>Multiple terabytes of diverse text data</a:t>
                      </a:r>
                      <a:endParaRPr b="0" lang="en-US" sz="1800" spc="-1" strike="noStrike">
                        <a:solidFill>
                          <a:srgbClr val="c9211e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en-HK</dc:language>
  <cp:lastModifiedBy/>
  <dcterms:modified xsi:type="dcterms:W3CDTF">2026-09-06T04:50:53Z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